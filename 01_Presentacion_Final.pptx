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Roboto"/>
      <p:regular r:id="rId25"/>
      <p:bold r:id="rId26"/>
      <p:italic r:id="rId27"/>
      <p:boldItalic r:id="rId28"/>
    </p:embeddedFont>
    <p:embeddedFont>
      <p:font typeface="Urbanist SemiBold"/>
      <p:regular r:id="rId29"/>
      <p:bold r:id="rId30"/>
      <p:italic r:id="rId31"/>
      <p:boldItalic r:id="rId32"/>
    </p:embeddedFont>
    <p:embeddedFont>
      <p:font typeface="Urbanist"/>
      <p:regular r:id="rId33"/>
      <p:bold r:id="rId34"/>
      <p:italic r:id="rId35"/>
      <p:boldItalic r:id="rId36"/>
    </p:embeddedFont>
    <p:embeddedFont>
      <p:font typeface="Lexend"/>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h1aA5HGRQRe30HfMlxtQGk50Jc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96DD23-CAE1-4C5A-8ED7-5172C02526EC}">
  <a:tblStyle styleId="{2796DD23-CAE1-4C5A-8ED7-5172C02526E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7C7E832-96B1-4A0C-BC91-212A0C87CAB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1FBD2C6-CD88-4B10-AABB-F8BC945B1501}" styleName="Table_2">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D866067-8457-4892-B61C-B6E68CC51188}" styleName="Table_3">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SemiBold-italic.fntdata"/><Relationship Id="rId30" Type="http://schemas.openxmlformats.org/officeDocument/2006/relationships/font" Target="fonts/UrbanistSemiBold-bold.fntdata"/><Relationship Id="rId11" Type="http://schemas.openxmlformats.org/officeDocument/2006/relationships/slide" Target="slides/slide6.xml"/><Relationship Id="rId33" Type="http://schemas.openxmlformats.org/officeDocument/2006/relationships/font" Target="fonts/Urbanist-regular.fntdata"/><Relationship Id="rId10" Type="http://schemas.openxmlformats.org/officeDocument/2006/relationships/slide" Target="slides/slide5.xml"/><Relationship Id="rId32" Type="http://schemas.openxmlformats.org/officeDocument/2006/relationships/font" Target="fonts/UrbanistSemiBold-boldItalic.fntdata"/><Relationship Id="rId13" Type="http://schemas.openxmlformats.org/officeDocument/2006/relationships/slide" Target="slides/slide8.xml"/><Relationship Id="rId35" Type="http://schemas.openxmlformats.org/officeDocument/2006/relationships/font" Target="fonts/Urbanist-italic.fntdata"/><Relationship Id="rId12" Type="http://schemas.openxmlformats.org/officeDocument/2006/relationships/slide" Target="slides/slide7.xml"/><Relationship Id="rId34" Type="http://schemas.openxmlformats.org/officeDocument/2006/relationships/font" Target="fonts/Urbanist-bold.fntdata"/><Relationship Id="rId15" Type="http://schemas.openxmlformats.org/officeDocument/2006/relationships/slide" Target="slides/slide10.xml"/><Relationship Id="rId37" Type="http://schemas.openxmlformats.org/officeDocument/2006/relationships/font" Target="fonts/Lexend-regular.fntdata"/><Relationship Id="rId14" Type="http://schemas.openxmlformats.org/officeDocument/2006/relationships/slide" Target="slides/slide9.xml"/><Relationship Id="rId36" Type="http://schemas.openxmlformats.org/officeDocument/2006/relationships/font" Target="fonts/Urbanist-boldItalic.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Lexend-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33002946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33002946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306541c7c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306541c7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306541c7c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f306541c7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306541c7c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f306541c7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306541c7c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306541c7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5183188" y="987425"/>
            <a:ext cx="6172200" cy="4873625"/>
          </a:xfrm>
          <a:prstGeom prst="rect">
            <a:avLst/>
          </a:prstGeom>
          <a:noFill/>
          <a:ln>
            <a:noFill/>
          </a:ln>
        </p:spPr>
      </p:sp>
      <p:sp>
        <p:nvSpPr>
          <p:cNvPr id="64" name="Google Shape;64;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3.jpg"/><Relationship Id="rId5" Type="http://schemas.openxmlformats.org/officeDocument/2006/relationships/image" Target="../media/image3.jpg"/><Relationship Id="rId6"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6.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hyperlink" Target="https://www.figma.com/make/x16eMB7RUZ6Gl4cCbZyank/Edificio-mirador?t=WQM4AxbQ9vSfsUSl-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9.png"/><Relationship Id="rId9"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8.png"/><Relationship Id="rId8"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EscuelaIT Duoc UC - Escuela de Informática y Telecomunicaciones Duoc UC - Duoc  UC | LinkedIn" id="84" name="Google Shape;84;p1"/>
          <p:cNvPicPr preferRelativeResize="0"/>
          <p:nvPr/>
        </p:nvPicPr>
        <p:blipFill rotWithShape="1">
          <a:blip r:embed="rId3">
            <a:alphaModFix/>
          </a:blip>
          <a:srcRect b="0" l="0" r="0" t="0"/>
          <a:stretch/>
        </p:blipFill>
        <p:spPr>
          <a:xfrm>
            <a:off x="8024529" y="495097"/>
            <a:ext cx="3141406" cy="785352"/>
          </a:xfrm>
          <a:prstGeom prst="rect">
            <a:avLst/>
          </a:prstGeom>
          <a:noFill/>
          <a:ln>
            <a:noFill/>
          </a:ln>
        </p:spPr>
      </p:pic>
      <p:sp>
        <p:nvSpPr>
          <p:cNvPr id="85" name="Google Shape;85;p1"/>
          <p:cNvSpPr txBox="1"/>
          <p:nvPr/>
        </p:nvSpPr>
        <p:spPr>
          <a:xfrm>
            <a:off x="1" y="2707792"/>
            <a:ext cx="12192000" cy="1816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4400" u="none" cap="none" strike="noStrike">
                <a:solidFill>
                  <a:schemeClr val="dk1"/>
                </a:solidFill>
                <a:latin typeface="Calibri"/>
                <a:ea typeface="Calibri"/>
                <a:cs typeface="Calibri"/>
                <a:sym typeface="Calibri"/>
              </a:rPr>
              <a:t>PROYECTO </a:t>
            </a:r>
            <a:r>
              <a:rPr lang="es-CL" sz="4400">
                <a:solidFill>
                  <a:schemeClr val="dk1"/>
                </a:solidFill>
                <a:latin typeface="Calibri"/>
                <a:ea typeface="Calibri"/>
                <a:cs typeface="Calibri"/>
                <a:sym typeface="Calibri"/>
              </a:rPr>
              <a:t>“Sistema de Gestión Residencial del Edificio</a:t>
            </a:r>
            <a:r>
              <a:rPr b="0" i="0" lang="es-CL" sz="4400" u="none" cap="none" strike="noStrike">
                <a:solidFill>
                  <a:schemeClr val="dk1"/>
                </a:solidFill>
                <a:latin typeface="Calibri"/>
                <a:ea typeface="Calibri"/>
                <a:cs typeface="Calibri"/>
                <a:sym typeface="Calibri"/>
              </a:rPr>
              <a:t>”</a:t>
            </a:r>
            <a:endParaRPr/>
          </a:p>
          <a:p>
            <a:pPr indent="0" lvl="0" marL="0" marR="0" rtl="0" algn="ctr">
              <a:spcBef>
                <a:spcPts val="0"/>
              </a:spcBef>
              <a:spcAft>
                <a:spcPts val="0"/>
              </a:spcAft>
              <a:buNone/>
            </a:pPr>
            <a:r>
              <a:rPr b="0" i="0" lang="es-CL" sz="2400" u="none" cap="none" strike="noStrike">
                <a:solidFill>
                  <a:schemeClr val="dk1"/>
                </a:solidFill>
                <a:latin typeface="Calibri"/>
                <a:ea typeface="Calibri"/>
                <a:cs typeface="Calibri"/>
                <a:sym typeface="Calibri"/>
              </a:rPr>
              <a:t>INGENIERÍA DE SOFTWARE | RQY1102</a:t>
            </a:r>
            <a:endParaRPr b="0" i="0" sz="2400" u="none" cap="none" strike="noStrike">
              <a:solidFill>
                <a:schemeClr val="dk1"/>
              </a:solidFill>
              <a:latin typeface="Calibri"/>
              <a:ea typeface="Calibri"/>
              <a:cs typeface="Calibri"/>
              <a:sym typeface="Calibri"/>
            </a:endParaRPr>
          </a:p>
        </p:txBody>
      </p:sp>
      <p:pic>
        <p:nvPicPr>
          <p:cNvPr descr="EscuelaIT Duoc UC - Escuela de Informática y Telecomunicaciones Duoc UC - Duoc  UC | LinkedIn" id="86" name="Google Shape;86;p1"/>
          <p:cNvPicPr preferRelativeResize="0"/>
          <p:nvPr/>
        </p:nvPicPr>
        <p:blipFill rotWithShape="1">
          <a:blip r:embed="rId3">
            <a:alphaModFix/>
          </a:blip>
          <a:srcRect b="0" l="0" r="0" t="0"/>
          <a:stretch/>
        </p:blipFill>
        <p:spPr>
          <a:xfrm>
            <a:off x="6097963" y="4463247"/>
            <a:ext cx="4536009" cy="1144785"/>
          </a:xfrm>
          <a:prstGeom prst="rect">
            <a:avLst/>
          </a:prstGeom>
          <a:noFill/>
          <a:ln>
            <a:noFill/>
          </a:ln>
        </p:spPr>
      </p:pic>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EscuelaIT Duoc UC - Escuela de Informática y Telecomunicaciones Duoc UC - Duoc  UC | LinkedIn" id="91" name="Google Shape;91;p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grpSp>
        <p:nvGrpSpPr>
          <p:cNvPr id="92" name="Google Shape;92;p2"/>
          <p:cNvGrpSpPr/>
          <p:nvPr/>
        </p:nvGrpSpPr>
        <p:grpSpPr>
          <a:xfrm>
            <a:off x="4121026" y="1710819"/>
            <a:ext cx="7633528" cy="4350553"/>
            <a:chOff x="0" y="0"/>
            <a:chExt cx="7633528" cy="4350553"/>
          </a:xfrm>
        </p:grpSpPr>
        <p:sp>
          <p:nvSpPr>
            <p:cNvPr id="93" name="Google Shape;93;p2"/>
            <p:cNvSpPr/>
            <p:nvPr/>
          </p:nvSpPr>
          <p:spPr>
            <a:xfrm>
              <a:off x="0" y="0"/>
              <a:ext cx="7633494" cy="1359548"/>
            </a:xfrm>
            <a:prstGeom prst="roundRect">
              <a:avLst>
                <a:gd fmla="val 10000" name="adj"/>
              </a:avLst>
            </a:prstGeom>
            <a:gradFill>
              <a:gsLst>
                <a:gs pos="0">
                  <a:srgbClr val="6EA2D9"/>
                </a:gs>
                <a:gs pos="50000">
                  <a:srgbClr val="5197DA"/>
                </a:gs>
                <a:gs pos="100000">
                  <a:srgbClr val="4185C7"/>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txBox="1"/>
            <p:nvPr/>
          </p:nvSpPr>
          <p:spPr>
            <a:xfrm>
              <a:off x="1662653" y="0"/>
              <a:ext cx="5970840" cy="1359548"/>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Jorge Morales</a:t>
              </a:r>
              <a:endParaRPr b="0" i="0" sz="2600" u="none" cap="none" strike="noStrike">
                <a:solidFill>
                  <a:schemeClr val="lt1"/>
                </a:solidFill>
                <a:latin typeface="Calibri"/>
                <a:ea typeface="Calibri"/>
                <a:cs typeface="Calibri"/>
                <a:sym typeface="Calibri"/>
              </a:endParaRPr>
            </a:p>
            <a:p>
              <a:pPr indent="-228600" lvl="1" marL="228600" marR="0" rtl="0" algn="l">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Diseñador UI/UX (Interfaz y Experiencia de Usuario) </a:t>
              </a:r>
              <a:endParaRPr b="0" i="0" sz="2000" u="none" cap="none" strike="noStrike">
                <a:solidFill>
                  <a:schemeClr val="lt1"/>
                </a:solidFill>
                <a:latin typeface="Calibri"/>
                <a:ea typeface="Calibri"/>
                <a:cs typeface="Calibri"/>
                <a:sym typeface="Calibri"/>
              </a:endParaRPr>
            </a:p>
            <a:p>
              <a:pPr indent="-209550" lvl="1" marL="228600" marR="0" rtl="0" algn="l">
                <a:lnSpc>
                  <a:spcPct val="90000"/>
                </a:lnSpc>
                <a:spcBef>
                  <a:spcPts val="300"/>
                </a:spcBef>
                <a:spcAft>
                  <a:spcPts val="0"/>
                </a:spcAft>
                <a:buClr>
                  <a:schemeClr val="lt1"/>
                </a:buClr>
                <a:buSzPts val="1700"/>
                <a:buFont typeface="Calibri"/>
                <a:buChar char="•"/>
              </a:pPr>
              <a:r>
                <a:rPr lang="es-CL" sz="1700">
                  <a:solidFill>
                    <a:schemeClr val="lt1"/>
                  </a:solidFill>
                  <a:latin typeface="Calibri"/>
                  <a:ea typeface="Calibri"/>
                  <a:cs typeface="Calibri"/>
                  <a:sym typeface="Calibri"/>
                </a:rPr>
                <a:t>Diseña las pantallas, prototipos (ej. en Figma) y define cómo el usuario navegará e </a:t>
              </a:r>
              <a:r>
                <a:rPr lang="es-CL" sz="1700">
                  <a:solidFill>
                    <a:schemeClr val="lt1"/>
                  </a:solidFill>
                  <a:latin typeface="Calibri"/>
                  <a:ea typeface="Calibri"/>
                  <a:cs typeface="Calibri"/>
                  <a:sym typeface="Calibri"/>
                </a:rPr>
                <a:t>interactúa</a:t>
              </a:r>
              <a:r>
                <a:rPr lang="es-CL" sz="1700">
                  <a:solidFill>
                    <a:schemeClr val="lt1"/>
                  </a:solidFill>
                  <a:latin typeface="Calibri"/>
                  <a:ea typeface="Calibri"/>
                  <a:cs typeface="Calibri"/>
                  <a:sym typeface="Calibri"/>
                </a:rPr>
                <a:t> con la aplicación. </a:t>
              </a:r>
              <a:endParaRPr b="0" i="0" sz="1700" u="none" cap="none" strike="noStrike">
                <a:solidFill>
                  <a:schemeClr val="lt1"/>
                </a:solidFill>
                <a:latin typeface="Calibri"/>
                <a:ea typeface="Calibri"/>
                <a:cs typeface="Calibri"/>
                <a:sym typeface="Calibri"/>
              </a:endParaRPr>
            </a:p>
          </p:txBody>
        </p:sp>
        <p:sp>
          <p:nvSpPr>
            <p:cNvPr id="95" name="Google Shape;95;p2"/>
            <p:cNvSpPr/>
            <p:nvPr/>
          </p:nvSpPr>
          <p:spPr>
            <a:xfrm>
              <a:off x="135954" y="135954"/>
              <a:ext cx="1526698" cy="1087638"/>
            </a:xfrm>
            <a:prstGeom prst="roundRect">
              <a:avLst>
                <a:gd fmla="val 10000" name="adj"/>
              </a:avLst>
            </a:prstGeom>
            <a:solidFill>
              <a:srgbClr val="C1D2EA"/>
            </a:soli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0" y="1495502"/>
              <a:ext cx="7633494" cy="1359548"/>
            </a:xfrm>
            <a:prstGeom prst="roundRect">
              <a:avLst>
                <a:gd fmla="val 10000" name="adj"/>
              </a:avLst>
            </a:prstGeom>
            <a:gradFill>
              <a:gsLst>
                <a:gs pos="0">
                  <a:srgbClr val="6EA2D9"/>
                </a:gs>
                <a:gs pos="50000">
                  <a:srgbClr val="5197DA"/>
                </a:gs>
                <a:gs pos="100000">
                  <a:srgbClr val="4185C7"/>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txBox="1"/>
            <p:nvPr/>
          </p:nvSpPr>
          <p:spPr>
            <a:xfrm>
              <a:off x="1662628" y="1359565"/>
              <a:ext cx="5970900" cy="1359600"/>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Pablo Flores</a:t>
              </a:r>
              <a:endParaRPr b="0" i="0" sz="2600" u="none" cap="none" strike="noStrike">
                <a:solidFill>
                  <a:schemeClr val="lt1"/>
                </a:solidFill>
                <a:latin typeface="Calibri"/>
                <a:ea typeface="Calibri"/>
                <a:cs typeface="Calibri"/>
                <a:sym typeface="Calibri"/>
              </a:endParaRPr>
            </a:p>
            <a:p>
              <a:pPr indent="-228600" lvl="1" marL="228600" marR="0" rtl="0" algn="l">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Project Manager </a:t>
              </a:r>
              <a:endParaRPr b="0" i="0" sz="2000" u="none" cap="none" strike="noStrike">
                <a:solidFill>
                  <a:schemeClr val="lt1"/>
                </a:solidFill>
                <a:latin typeface="Calibri"/>
                <a:ea typeface="Calibri"/>
                <a:cs typeface="Calibri"/>
                <a:sym typeface="Calibri"/>
              </a:endParaRPr>
            </a:p>
            <a:p>
              <a:pPr indent="-228600" lvl="1" marL="228600" marR="0" rtl="0" algn="l">
                <a:lnSpc>
                  <a:spcPct val="90000"/>
                </a:lnSpc>
                <a:spcBef>
                  <a:spcPts val="30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definir los cronogramas, asignar las tareas y ser el puente principal con el cliente o los directivos </a:t>
              </a:r>
              <a:endParaRPr b="0" i="0" sz="2000" u="none" cap="none" strike="noStrike">
                <a:solidFill>
                  <a:schemeClr val="lt1"/>
                </a:solidFill>
                <a:latin typeface="Calibri"/>
                <a:ea typeface="Calibri"/>
                <a:cs typeface="Calibri"/>
                <a:sym typeface="Calibri"/>
              </a:endParaRPr>
            </a:p>
          </p:txBody>
        </p:sp>
        <p:sp>
          <p:nvSpPr>
            <p:cNvPr id="98" name="Google Shape;98;p2"/>
            <p:cNvSpPr/>
            <p:nvPr/>
          </p:nvSpPr>
          <p:spPr>
            <a:xfrm>
              <a:off x="135954" y="1631457"/>
              <a:ext cx="1526698" cy="1087638"/>
            </a:xfrm>
            <a:prstGeom prst="roundRect">
              <a:avLst>
                <a:gd fmla="val 10000" name="adj"/>
              </a:avLst>
            </a:prstGeom>
            <a:solidFill>
              <a:srgbClr val="C1D2EA"/>
            </a:soli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0" y="2991005"/>
              <a:ext cx="7633494" cy="1359548"/>
            </a:xfrm>
            <a:prstGeom prst="roundRect">
              <a:avLst>
                <a:gd fmla="val 10000" name="adj"/>
              </a:avLst>
            </a:prstGeom>
            <a:gradFill>
              <a:gsLst>
                <a:gs pos="0">
                  <a:srgbClr val="6EA2D9"/>
                </a:gs>
                <a:gs pos="50000">
                  <a:srgbClr val="5197DA"/>
                </a:gs>
                <a:gs pos="100000">
                  <a:srgbClr val="4185C7"/>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txBox="1"/>
            <p:nvPr/>
          </p:nvSpPr>
          <p:spPr>
            <a:xfrm>
              <a:off x="1662628" y="2901755"/>
              <a:ext cx="5970900" cy="1359600"/>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Ignacio Herrera</a:t>
              </a:r>
              <a:r>
                <a:rPr b="0" i="0" lang="es-CL" sz="2600" u="none" cap="none" strike="noStrike">
                  <a:solidFill>
                    <a:schemeClr val="lt1"/>
                  </a:solidFill>
                  <a:latin typeface="Calibri"/>
                  <a:ea typeface="Calibri"/>
                  <a:cs typeface="Calibri"/>
                  <a:sym typeface="Calibri"/>
                </a:rPr>
                <a:t> </a:t>
              </a:r>
              <a:endParaRPr b="0" i="0" sz="2600" u="none" cap="none" strike="noStrike">
                <a:solidFill>
                  <a:schemeClr val="lt1"/>
                </a:solidFill>
                <a:latin typeface="Calibri"/>
                <a:ea typeface="Calibri"/>
                <a:cs typeface="Calibri"/>
                <a:sym typeface="Calibri"/>
              </a:endParaRPr>
            </a:p>
            <a:p>
              <a:pPr indent="-228600" lvl="1" marL="228600" marR="0" rtl="0" algn="l">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Analista de Sistemas </a:t>
              </a:r>
              <a:endParaRPr b="0" i="0" sz="2000" u="none" cap="none" strike="noStrike">
                <a:solidFill>
                  <a:schemeClr val="lt1"/>
                </a:solidFill>
                <a:latin typeface="Calibri"/>
                <a:ea typeface="Calibri"/>
                <a:cs typeface="Calibri"/>
                <a:sym typeface="Calibri"/>
              </a:endParaRPr>
            </a:p>
            <a:p>
              <a:pPr indent="-215900" lvl="1" marL="228600" marR="0" rtl="0" algn="l">
                <a:lnSpc>
                  <a:spcPct val="90000"/>
                </a:lnSpc>
                <a:spcBef>
                  <a:spcPts val="300"/>
                </a:spcBef>
                <a:spcAft>
                  <a:spcPts val="0"/>
                </a:spcAft>
                <a:buClr>
                  <a:schemeClr val="lt1"/>
                </a:buClr>
                <a:buSzPts val="1800"/>
                <a:buFont typeface="Calibri"/>
                <a:buChar char="•"/>
              </a:pPr>
              <a:r>
                <a:rPr lang="es-CL" sz="1800">
                  <a:solidFill>
                    <a:schemeClr val="lt1"/>
                  </a:solidFill>
                  <a:latin typeface="Calibri"/>
                  <a:ea typeface="Calibri"/>
                  <a:cs typeface="Calibri"/>
                  <a:sym typeface="Calibri"/>
                </a:rPr>
                <a:t>Evalúa la viabilidad técnica de los requerimientos y define cómo el sistema </a:t>
              </a:r>
              <a:r>
                <a:rPr lang="es-CL" sz="1800">
                  <a:solidFill>
                    <a:schemeClr val="lt1"/>
                  </a:solidFill>
                  <a:latin typeface="Calibri"/>
                  <a:ea typeface="Calibri"/>
                  <a:cs typeface="Calibri"/>
                  <a:sym typeface="Calibri"/>
                </a:rPr>
                <a:t>interactúa</a:t>
              </a:r>
              <a:r>
                <a:rPr lang="es-CL" sz="1800">
                  <a:solidFill>
                    <a:schemeClr val="lt1"/>
                  </a:solidFill>
                  <a:latin typeface="Calibri"/>
                  <a:ea typeface="Calibri"/>
                  <a:cs typeface="Calibri"/>
                  <a:sym typeface="Calibri"/>
                </a:rPr>
                <a:t> con otros sistemas existentes. </a:t>
              </a:r>
              <a:endParaRPr b="0" i="0" sz="1800" u="none" cap="none" strike="noStrike">
                <a:solidFill>
                  <a:schemeClr val="lt1"/>
                </a:solidFill>
                <a:latin typeface="Calibri"/>
                <a:ea typeface="Calibri"/>
                <a:cs typeface="Calibri"/>
                <a:sym typeface="Calibri"/>
              </a:endParaRPr>
            </a:p>
          </p:txBody>
        </p:sp>
        <p:sp>
          <p:nvSpPr>
            <p:cNvPr id="101" name="Google Shape;101;p2"/>
            <p:cNvSpPr/>
            <p:nvPr/>
          </p:nvSpPr>
          <p:spPr>
            <a:xfrm>
              <a:off x="135954" y="3126960"/>
              <a:ext cx="1526698" cy="1087638"/>
            </a:xfrm>
            <a:prstGeom prst="roundRect">
              <a:avLst>
                <a:gd fmla="val 10000" name="adj"/>
              </a:avLst>
            </a:prstGeom>
            <a:solidFill>
              <a:srgbClr val="C1D2EA"/>
            </a:soli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2"/>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CL" sz="1800" u="none" cap="none" strike="noStrike">
                <a:solidFill>
                  <a:srgbClr val="757070"/>
                </a:solidFill>
                <a:latin typeface="Calibri"/>
                <a:ea typeface="Calibri"/>
                <a:cs typeface="Calibri"/>
                <a:sym typeface="Calibri"/>
              </a:rPr>
              <a:t>PROYECTO “</a:t>
            </a:r>
            <a:r>
              <a:rPr lang="es-CL" sz="1600">
                <a:solidFill>
                  <a:srgbClr val="888888"/>
                </a:solidFill>
                <a:latin typeface="Georgia"/>
                <a:ea typeface="Georgia"/>
                <a:cs typeface="Georgia"/>
                <a:sym typeface="Georgia"/>
              </a:rPr>
              <a:t>Sistema de Gestión Residencial del Edificio</a:t>
            </a:r>
            <a:r>
              <a:rPr b="0" i="0" lang="es-CL" sz="1800" u="none" cap="none" strike="noStrike">
                <a:solidFill>
                  <a:srgbClr val="888888"/>
                </a:solidFill>
                <a:latin typeface="Calibri"/>
                <a:ea typeface="Calibri"/>
                <a:cs typeface="Calibri"/>
                <a:sym typeface="Calibri"/>
              </a:rPr>
              <a:t>”</a:t>
            </a:r>
            <a:endParaRPr>
              <a:solidFill>
                <a:srgbClr val="888888"/>
              </a:solidFill>
            </a:endParaRPr>
          </a:p>
        </p:txBody>
      </p:sp>
      <p:sp>
        <p:nvSpPr>
          <p:cNvPr id="103" name="Google Shape;103;p2"/>
          <p:cNvSpPr txBox="1"/>
          <p:nvPr/>
        </p:nvSpPr>
        <p:spPr>
          <a:xfrm>
            <a:off x="238327" y="3058616"/>
            <a:ext cx="3608961"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INTEGRANTES, ROLES Y TIPO DE ORGANIZACIÓN</a:t>
            </a:r>
            <a:endParaRPr sz="1800">
              <a:solidFill>
                <a:schemeClr val="dk1"/>
              </a:solidFill>
              <a:latin typeface="Calibri"/>
              <a:ea typeface="Calibri"/>
              <a:cs typeface="Calibri"/>
              <a:sym typeface="Calibri"/>
            </a:endParaRPr>
          </a:p>
        </p:txBody>
      </p:sp>
      <p:cxnSp>
        <p:nvCxnSpPr>
          <p:cNvPr id="104" name="Google Shape;104;p2"/>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pic>
        <p:nvPicPr>
          <p:cNvPr id="105" name="Google Shape;105;p2" title="719918195_1042187731490217_6030345244125378228_n.jpg"/>
          <p:cNvPicPr preferRelativeResize="0"/>
          <p:nvPr/>
        </p:nvPicPr>
        <p:blipFill rotWithShape="1">
          <a:blip r:embed="rId4">
            <a:alphaModFix/>
          </a:blip>
          <a:srcRect b="35527" l="0" r="30915" t="20449"/>
          <a:stretch/>
        </p:blipFill>
        <p:spPr>
          <a:xfrm>
            <a:off x="4242350" y="1847450"/>
            <a:ext cx="1572426" cy="1137201"/>
          </a:xfrm>
          <a:prstGeom prst="rect">
            <a:avLst/>
          </a:prstGeom>
          <a:noFill/>
          <a:ln>
            <a:noFill/>
          </a:ln>
        </p:spPr>
      </p:pic>
      <p:pic>
        <p:nvPicPr>
          <p:cNvPr id="106" name="Google Shape;106;p2" title="38729037-a1d7-4771-a50f-2cd2cf16a3e4.jfif"/>
          <p:cNvPicPr preferRelativeResize="0"/>
          <p:nvPr/>
        </p:nvPicPr>
        <p:blipFill rotWithShape="1">
          <a:blip r:embed="rId5">
            <a:alphaModFix/>
          </a:blip>
          <a:srcRect b="20874" l="0" r="0" t="30125"/>
          <a:stretch/>
        </p:blipFill>
        <p:spPr>
          <a:xfrm>
            <a:off x="4242375" y="3317500"/>
            <a:ext cx="1572426" cy="1137200"/>
          </a:xfrm>
          <a:prstGeom prst="rect">
            <a:avLst/>
          </a:prstGeom>
          <a:noFill/>
          <a:ln>
            <a:noFill/>
          </a:ln>
        </p:spPr>
      </p:pic>
      <p:pic>
        <p:nvPicPr>
          <p:cNvPr id="107" name="Google Shape;107;p2" title="WhatsApp Image 2026-07-03 at 9.10.32 PM.jpeg"/>
          <p:cNvPicPr preferRelativeResize="0"/>
          <p:nvPr/>
        </p:nvPicPr>
        <p:blipFill>
          <a:blip r:embed="rId6">
            <a:alphaModFix/>
          </a:blip>
          <a:stretch>
            <a:fillRect/>
          </a:stretch>
        </p:blipFill>
        <p:spPr>
          <a:xfrm>
            <a:off x="4242363" y="4834975"/>
            <a:ext cx="1572424" cy="1137200"/>
          </a:xfrm>
          <a:prstGeom prst="rect">
            <a:avLst/>
          </a:prstGeom>
          <a:noFill/>
          <a:ln>
            <a:noFill/>
          </a:ln>
        </p:spPr>
      </p:pic>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descr="EscuelaIT Duoc UC - Escuela de Informática y Telecomunicaciones Duoc UC - Duoc  UC | LinkedIn" id="112" name="Google Shape;112;p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13" name="Google Shape;113;p3"/>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rgbClr val="757070"/>
                </a:solidFill>
                <a:latin typeface="Calibri"/>
                <a:ea typeface="Calibri"/>
                <a:cs typeface="Calibri"/>
                <a:sym typeface="Calibri"/>
              </a:rPr>
              <a:t>PROYECTO “</a:t>
            </a:r>
            <a:r>
              <a:rPr lang="es-CL" sz="1600">
                <a:solidFill>
                  <a:srgbClr val="888888"/>
                </a:solidFill>
                <a:latin typeface="Georgia"/>
                <a:ea typeface="Georgia"/>
                <a:cs typeface="Georgia"/>
                <a:sym typeface="Georgia"/>
              </a:rPr>
              <a:t>Sistema de Gestión Residencial del Edificio</a:t>
            </a:r>
            <a:r>
              <a:rPr lang="es-CL" sz="1800">
                <a:solidFill>
                  <a:srgbClr val="757070"/>
                </a:solidFill>
                <a:latin typeface="Calibri"/>
                <a:ea typeface="Calibri"/>
                <a:cs typeface="Calibri"/>
                <a:sym typeface="Calibri"/>
              </a:rPr>
              <a:t>”</a:t>
            </a:r>
            <a:endParaRPr/>
          </a:p>
        </p:txBody>
      </p:sp>
      <p:sp>
        <p:nvSpPr>
          <p:cNvPr id="114" name="Google Shape;114;p3"/>
          <p:cNvSpPr txBox="1"/>
          <p:nvPr/>
        </p:nvSpPr>
        <p:spPr>
          <a:xfrm>
            <a:off x="0" y="1130849"/>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DESCRIPCIÓN Y PROPUESTA DE SOLUCIÓN</a:t>
            </a:r>
            <a:endParaRPr sz="1800">
              <a:solidFill>
                <a:schemeClr val="dk1"/>
              </a:solidFill>
              <a:latin typeface="Calibri"/>
              <a:ea typeface="Calibri"/>
              <a:cs typeface="Calibri"/>
              <a:sym typeface="Calibri"/>
            </a:endParaRPr>
          </a:p>
        </p:txBody>
      </p:sp>
      <p:cxnSp>
        <p:nvCxnSpPr>
          <p:cNvPr id="115" name="Google Shape;115;p3"/>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16" name="Google Shape;116;p3"/>
          <p:cNvSpPr/>
          <p:nvPr/>
        </p:nvSpPr>
        <p:spPr>
          <a:xfrm>
            <a:off x="714909" y="2169769"/>
            <a:ext cx="4348705" cy="4092601"/>
          </a:xfrm>
          <a:prstGeom prst="roundRect">
            <a:avLst>
              <a:gd fmla="val 10901" name="adj"/>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CL" sz="2800" u="sng">
                <a:solidFill>
                  <a:schemeClr val="dk1"/>
                </a:solidFill>
                <a:latin typeface="Calibri"/>
                <a:ea typeface="Calibri"/>
                <a:cs typeface="Calibri"/>
                <a:sym typeface="Calibri"/>
              </a:rPr>
              <a:t>Problema / Necesidad del Cliente</a:t>
            </a:r>
            <a:endParaRPr/>
          </a:p>
          <a:p>
            <a:pPr indent="0" lvl="0" marL="0" marR="0" rtl="0" algn="ctr">
              <a:spcBef>
                <a:spcPts val="0"/>
              </a:spcBef>
              <a:spcAft>
                <a:spcPts val="0"/>
              </a:spcAft>
              <a:buNone/>
            </a:pPr>
            <a:r>
              <a:t/>
            </a:r>
            <a:endParaRPr sz="1800" u="sng">
              <a:solidFill>
                <a:schemeClr val="dk1"/>
              </a:solidFill>
              <a:latin typeface="Calibri"/>
              <a:ea typeface="Calibri"/>
              <a:cs typeface="Calibri"/>
              <a:sym typeface="Calibri"/>
            </a:endParaRPr>
          </a:p>
          <a:p>
            <a:pPr indent="0" lvl="0" marL="0" marR="0" rtl="0" algn="just">
              <a:spcBef>
                <a:spcPts val="0"/>
              </a:spcBef>
              <a:spcAft>
                <a:spcPts val="0"/>
              </a:spcAft>
              <a:buNone/>
            </a:pPr>
            <a:r>
              <a:rPr lang="es-CL">
                <a:solidFill>
                  <a:schemeClr val="dk1"/>
                </a:solidFill>
                <a:latin typeface="Calibri"/>
                <a:ea typeface="Calibri"/>
                <a:cs typeface="Calibri"/>
                <a:sym typeface="Calibri"/>
              </a:rPr>
              <a:t>El céntrico edificio "El Mirador" (160 departamentos) enfrenta una severa crisis financiera y de convivencia debido a una gestión administrativa manual, ineficiente y con personal insuficiente. La incapacidad para cobrar los gastos comunes y controlar la morosidad ha generado una falta de liquidez que retrasa el pago de servicios básicos, sueldos y mantenciones críticas, lo cual, sumado a la nula transparencia y mala comunicación, ha provocado un clima de desconfianza y constantes conflictos entre los residentes, haciendo urgente la necesidad de digitalizar y automatizar sus procesos. </a:t>
            </a:r>
            <a:endParaRPr>
              <a:solidFill>
                <a:schemeClr val="dk1"/>
              </a:solidFill>
              <a:latin typeface="Calibri"/>
              <a:ea typeface="Calibri"/>
              <a:cs typeface="Calibri"/>
              <a:sym typeface="Calibri"/>
            </a:endParaRPr>
          </a:p>
          <a:p>
            <a:pPr indent="0" lvl="0" marL="0" marR="0" rtl="0" algn="ctr">
              <a:spcBef>
                <a:spcPts val="0"/>
              </a:spcBef>
              <a:spcAft>
                <a:spcPts val="0"/>
              </a:spcAft>
              <a:buNone/>
            </a:pPr>
            <a:r>
              <a:t/>
            </a:r>
            <a:endParaRPr u="sng">
              <a:solidFill>
                <a:schemeClr val="dk1"/>
              </a:solidFill>
              <a:latin typeface="Calibri"/>
              <a:ea typeface="Calibri"/>
              <a:cs typeface="Calibri"/>
              <a:sym typeface="Calibri"/>
            </a:endParaRPr>
          </a:p>
        </p:txBody>
      </p:sp>
      <p:sp>
        <p:nvSpPr>
          <p:cNvPr id="117" name="Google Shape;117;p3"/>
          <p:cNvSpPr/>
          <p:nvPr/>
        </p:nvSpPr>
        <p:spPr>
          <a:xfrm>
            <a:off x="6912079" y="2177325"/>
            <a:ext cx="4348705" cy="4092601"/>
          </a:xfrm>
          <a:prstGeom prst="roundRect">
            <a:avLst>
              <a:gd fmla="val 10901" name="adj"/>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CL" sz="2800" u="sng">
                <a:solidFill>
                  <a:schemeClr val="dk1"/>
                </a:solidFill>
                <a:latin typeface="Calibri"/>
                <a:ea typeface="Calibri"/>
                <a:cs typeface="Calibri"/>
                <a:sym typeface="Calibri"/>
              </a:rPr>
              <a:t>Propuesta de Solución de Software</a:t>
            </a:r>
            <a:endParaRPr sz="2800" u="sng">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CL" sz="1200">
                <a:solidFill>
                  <a:schemeClr val="dk1"/>
                </a:solidFill>
              </a:rPr>
              <a:t>Plataforma web centralizada para la administración y residentes, que integra módulos de finanzas, solicitudes de servicios y comunicación</a:t>
            </a:r>
            <a:endParaRPr sz="2800" u="sng">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u="sng">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Georgia"/>
              <a:buChar char="●"/>
            </a:pPr>
            <a:r>
              <a:rPr lang="es-CL" sz="1200">
                <a:solidFill>
                  <a:schemeClr val="dk1"/>
                </a:solidFill>
                <a:latin typeface="Georgia"/>
                <a:ea typeface="Georgia"/>
                <a:cs typeface="Georgia"/>
                <a:sym typeface="Georgia"/>
              </a:rPr>
              <a:t>Centralizar la información de residentes y departamentos.</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s-CL" sz="1200">
                <a:solidFill>
                  <a:schemeClr val="dk1"/>
                </a:solidFill>
                <a:latin typeface="Georgia"/>
                <a:ea typeface="Georgia"/>
                <a:cs typeface="Georgia"/>
                <a:sym typeface="Georgia"/>
              </a:rPr>
              <a:t>Registrar y controlar pagos de gastos comunes.</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s-CL" sz="1200">
                <a:solidFill>
                  <a:schemeClr val="dk1"/>
                </a:solidFill>
                <a:latin typeface="Georgia"/>
                <a:ea typeface="Georgia"/>
                <a:cs typeface="Georgia"/>
                <a:sym typeface="Georgia"/>
              </a:rPr>
              <a:t>Identificar residentes morosos y actualizar estados de deuda.</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s-CL" sz="1200">
                <a:solidFill>
                  <a:schemeClr val="dk1"/>
                </a:solidFill>
                <a:latin typeface="Georgia"/>
                <a:ea typeface="Georgia"/>
                <a:cs typeface="Georgia"/>
                <a:sym typeface="Georgia"/>
              </a:rPr>
              <a:t>Gestionar solicitudes, quejas y requerimientos de mantención.</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s-CL" sz="1200">
                <a:solidFill>
                  <a:schemeClr val="dk1"/>
                </a:solidFill>
                <a:latin typeface="Georgia"/>
                <a:ea typeface="Georgia"/>
                <a:cs typeface="Georgia"/>
                <a:sym typeface="Georgia"/>
              </a:rPr>
              <a:t>Generar reportes para apoyar la toma de decisiones administrativas.</a:t>
            </a:r>
            <a:endParaRPr sz="1800">
              <a:solidFill>
                <a:schemeClr val="dk1"/>
              </a:solidFill>
              <a:latin typeface="Calibri"/>
              <a:ea typeface="Calibri"/>
              <a:cs typeface="Calibri"/>
              <a:sym typeface="Calibri"/>
            </a:endParaRPr>
          </a:p>
        </p:txBody>
      </p:sp>
      <p:sp>
        <p:nvSpPr>
          <p:cNvPr id="118" name="Google Shape;118;p3"/>
          <p:cNvSpPr/>
          <p:nvPr/>
        </p:nvSpPr>
        <p:spPr>
          <a:xfrm>
            <a:off x="5456903" y="3736258"/>
            <a:ext cx="1140542" cy="757084"/>
          </a:xfrm>
          <a:prstGeom prst="rightArrow">
            <a:avLst>
              <a:gd fmla="val 50000" name="adj1"/>
              <a:gd fmla="val 50000" name="adj2"/>
            </a:avLst>
          </a:prstGeom>
          <a:solidFill>
            <a:schemeClr val="accent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par>
                                <p:cTn fill="hold" nodeType="with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EscuelaIT Duoc UC - Escuela de Informática y Telecomunicaciones Duoc UC - Duoc  UC | LinkedIn" id="123" name="Google Shape;123;p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24" name="Google Shape;124;p4"/>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rgbClr val="757070"/>
                </a:solidFill>
                <a:latin typeface="Calibri"/>
                <a:ea typeface="Calibri"/>
                <a:cs typeface="Calibri"/>
                <a:sym typeface="Calibri"/>
              </a:rPr>
              <a:t>PROYECTO “NOMBRE DEL PROYECTO”</a:t>
            </a:r>
            <a:endParaRPr/>
          </a:p>
        </p:txBody>
      </p:sp>
      <p:sp>
        <p:nvSpPr>
          <p:cNvPr id="125" name="Google Shape;125;p4"/>
          <p:cNvSpPr txBox="1"/>
          <p:nvPr/>
        </p:nvSpPr>
        <p:spPr>
          <a:xfrm>
            <a:off x="0" y="1384304"/>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CICLO DE VIDA DEL SOFTWARE</a:t>
            </a:r>
            <a:endParaRPr sz="1800">
              <a:solidFill>
                <a:schemeClr val="dk1"/>
              </a:solidFill>
              <a:latin typeface="Calibri"/>
              <a:ea typeface="Calibri"/>
              <a:cs typeface="Calibri"/>
              <a:sym typeface="Calibri"/>
            </a:endParaRPr>
          </a:p>
        </p:txBody>
      </p:sp>
      <p:cxnSp>
        <p:nvCxnSpPr>
          <p:cNvPr id="126" name="Google Shape;126;p4"/>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27" name="Google Shape;127;p4"/>
          <p:cNvSpPr txBox="1"/>
          <p:nvPr/>
        </p:nvSpPr>
        <p:spPr>
          <a:xfrm>
            <a:off x="0" y="422077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Fases aplicadas al proyecto</a:t>
            </a:r>
            <a:endParaRPr sz="1800">
              <a:solidFill>
                <a:schemeClr val="dk1"/>
              </a:solidFill>
              <a:latin typeface="Calibri"/>
              <a:ea typeface="Calibri"/>
              <a:cs typeface="Calibri"/>
              <a:sym typeface="Calibri"/>
            </a:endParaRPr>
          </a:p>
        </p:txBody>
      </p:sp>
      <p:sp>
        <p:nvSpPr>
          <p:cNvPr id="128" name="Google Shape;128;p4"/>
          <p:cNvSpPr/>
          <p:nvPr/>
        </p:nvSpPr>
        <p:spPr>
          <a:xfrm>
            <a:off x="614525" y="2040575"/>
            <a:ext cx="10962900" cy="21120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None/>
            </a:pPr>
            <a:r>
              <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s-CL" sz="1800">
                <a:solidFill>
                  <a:schemeClr val="dk1"/>
                </a:solidFill>
                <a:latin typeface="Calibri"/>
                <a:ea typeface="Calibri"/>
                <a:cs typeface="Calibri"/>
                <a:sym typeface="Calibri"/>
              </a:rPr>
              <a:t>Análisis</a:t>
            </a:r>
            <a:r>
              <a:rPr b="1" lang="es-CL" sz="1800">
                <a:solidFill>
                  <a:schemeClr val="dk1"/>
                </a:solidFill>
                <a:latin typeface="Calibri"/>
                <a:ea typeface="Calibri"/>
                <a:cs typeface="Calibri"/>
                <a:sym typeface="Calibri"/>
              </a:rPr>
              <a:t>: </a:t>
            </a:r>
            <a:r>
              <a:rPr lang="es-CL" sz="1800">
                <a:solidFill>
                  <a:schemeClr val="dk1"/>
                </a:solidFill>
                <a:latin typeface="Calibri"/>
                <a:ea typeface="Calibri"/>
                <a:cs typeface="Calibri"/>
                <a:sym typeface="Calibri"/>
              </a:rPr>
              <a:t>Se definieron los requerimientos del edificio.</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s-CL" sz="1800">
                <a:solidFill>
                  <a:schemeClr val="dk1"/>
                </a:solidFill>
                <a:latin typeface="Calibri"/>
                <a:ea typeface="Calibri"/>
                <a:cs typeface="Calibri"/>
                <a:sym typeface="Calibri"/>
              </a:rPr>
              <a:t>Diseño: </a:t>
            </a:r>
            <a:r>
              <a:rPr lang="es-CL" sz="1800">
                <a:solidFill>
                  <a:schemeClr val="dk1"/>
                </a:solidFill>
                <a:latin typeface="Calibri"/>
                <a:ea typeface="Calibri"/>
                <a:cs typeface="Calibri"/>
                <a:sym typeface="Calibri"/>
              </a:rPr>
              <a:t>Se </a:t>
            </a:r>
            <a:r>
              <a:rPr lang="es-CL" sz="1800">
                <a:solidFill>
                  <a:schemeClr val="dk1"/>
                </a:solidFill>
                <a:latin typeface="Calibri"/>
                <a:ea typeface="Calibri"/>
                <a:cs typeface="Calibri"/>
                <a:sym typeface="Calibri"/>
              </a:rPr>
              <a:t>creó</a:t>
            </a:r>
            <a:r>
              <a:rPr lang="es-CL" sz="1800">
                <a:solidFill>
                  <a:schemeClr val="dk1"/>
                </a:solidFill>
                <a:latin typeface="Calibri"/>
                <a:ea typeface="Calibri"/>
                <a:cs typeface="Calibri"/>
                <a:sym typeface="Calibri"/>
              </a:rPr>
              <a:t> la arquitectura y los diagramas UMl (4+1).</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s-CL" sz="1800">
                <a:solidFill>
                  <a:schemeClr val="dk1"/>
                </a:solidFill>
                <a:latin typeface="Calibri"/>
                <a:ea typeface="Calibri"/>
                <a:cs typeface="Calibri"/>
                <a:sym typeface="Calibri"/>
              </a:rPr>
              <a:t>Desarrollo: </a:t>
            </a:r>
            <a:r>
              <a:rPr lang="es-CL" sz="1800">
                <a:solidFill>
                  <a:schemeClr val="dk1"/>
                </a:solidFill>
                <a:latin typeface="Calibri"/>
                <a:ea typeface="Calibri"/>
                <a:cs typeface="Calibri"/>
                <a:sym typeface="Calibri"/>
              </a:rPr>
              <a:t>Se implementaron los módulos del sistema.</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s-CL" sz="1800">
                <a:solidFill>
                  <a:schemeClr val="dk1"/>
                </a:solidFill>
                <a:latin typeface="Calibri"/>
                <a:ea typeface="Calibri"/>
                <a:cs typeface="Calibri"/>
                <a:sym typeface="Calibri"/>
              </a:rPr>
              <a:t>Testing: </a:t>
            </a:r>
            <a:r>
              <a:rPr lang="es-CL" sz="1800">
                <a:solidFill>
                  <a:schemeClr val="dk1"/>
                </a:solidFill>
                <a:latin typeface="Calibri"/>
                <a:ea typeface="Calibri"/>
                <a:cs typeface="Calibri"/>
                <a:sym typeface="Calibri"/>
              </a:rPr>
              <a:t>Se validó el funcionamiento del sistema.</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s-CL" sz="1800">
                <a:solidFill>
                  <a:schemeClr val="dk1"/>
                </a:solidFill>
                <a:latin typeface="Calibri"/>
                <a:ea typeface="Calibri"/>
                <a:cs typeface="Calibri"/>
                <a:sym typeface="Calibri"/>
              </a:rPr>
              <a:t>Mantenimiento: </a:t>
            </a:r>
            <a:r>
              <a:rPr lang="es-CL" sz="1800">
                <a:solidFill>
                  <a:schemeClr val="dk1"/>
                </a:solidFill>
                <a:latin typeface="Calibri"/>
                <a:ea typeface="Calibri"/>
                <a:cs typeface="Calibri"/>
                <a:sym typeface="Calibri"/>
              </a:rPr>
              <a:t>Se realizaron mejoras y correciones (A traves del control de versiones).</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SzPts val="1100"/>
              <a:buNone/>
            </a:pPr>
            <a:r>
              <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SzPts val="1100"/>
              <a:buNone/>
            </a:pPr>
            <a:r>
              <a:t/>
            </a:r>
            <a:endParaRPr b="1" sz="1800">
              <a:solidFill>
                <a:schemeClr val="dk1"/>
              </a:solidFill>
              <a:latin typeface="Calibri"/>
              <a:ea typeface="Calibri"/>
              <a:cs typeface="Calibri"/>
              <a:sym typeface="Calibri"/>
            </a:endParaRPr>
          </a:p>
          <a:p>
            <a:pPr indent="0" lvl="0" marL="0" marR="0" rtl="0" algn="ctr">
              <a:spcBef>
                <a:spcPts val="1200"/>
              </a:spcBef>
              <a:spcAft>
                <a:spcPts val="0"/>
              </a:spcAft>
              <a:buNone/>
            </a:pPr>
            <a:r>
              <a:t/>
            </a:r>
            <a:endParaRPr sz="1800">
              <a:solidFill>
                <a:schemeClr val="dk1"/>
              </a:solidFill>
              <a:latin typeface="Calibri"/>
              <a:ea typeface="Calibri"/>
              <a:cs typeface="Calibri"/>
              <a:sym typeface="Calibri"/>
            </a:endParaRPr>
          </a:p>
        </p:txBody>
      </p:sp>
      <p:sp>
        <p:nvSpPr>
          <p:cNvPr id="129" name="Google Shape;129;p4"/>
          <p:cNvSpPr/>
          <p:nvPr/>
        </p:nvSpPr>
        <p:spPr>
          <a:xfrm>
            <a:off x="614525" y="5007225"/>
            <a:ext cx="10962900" cy="14796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CL" sz="1800">
                <a:solidFill>
                  <a:schemeClr val="dk1"/>
                </a:solidFill>
                <a:latin typeface="Calibri"/>
                <a:ea typeface="Calibri"/>
                <a:cs typeface="Calibri"/>
                <a:sym typeface="Calibri"/>
              </a:rPr>
              <a:t>Normativa aplicada:</a:t>
            </a:r>
            <a:r>
              <a:rPr lang="es-CL" sz="1800">
                <a:solidFill>
                  <a:schemeClr val="dk1"/>
                </a:solidFill>
                <a:latin typeface="Calibri"/>
                <a:ea typeface="Calibri"/>
                <a:cs typeface="Calibri"/>
                <a:sym typeface="Calibri"/>
              </a:rPr>
              <a:t> </a:t>
            </a:r>
            <a:r>
              <a:rPr b="1" lang="es-CL" sz="1800">
                <a:solidFill>
                  <a:schemeClr val="dk1"/>
                </a:solidFill>
                <a:latin typeface="Calibri"/>
                <a:ea typeface="Calibri"/>
                <a:cs typeface="Calibri"/>
                <a:sym typeface="Calibri"/>
              </a:rPr>
              <a:t>Cascada</a:t>
            </a:r>
            <a:r>
              <a:rPr lang="es-CL" sz="1800">
                <a:solidFill>
                  <a:schemeClr val="dk1"/>
                </a:solidFill>
                <a:latin typeface="Calibri"/>
                <a:ea typeface="Calibri"/>
                <a:cs typeface="Calibri"/>
                <a:sym typeface="Calibri"/>
              </a:rPr>
              <a:t> e </a:t>
            </a:r>
            <a:r>
              <a:rPr b="1" lang="es-CL" sz="1800">
                <a:solidFill>
                  <a:schemeClr val="dk1"/>
                </a:solidFill>
                <a:latin typeface="Calibri"/>
                <a:ea typeface="Calibri"/>
                <a:cs typeface="Calibri"/>
                <a:sym typeface="Calibri"/>
              </a:rPr>
              <a:t>IEEE 830</a:t>
            </a:r>
            <a:r>
              <a:rPr lang="es-CL" sz="1800">
                <a:solidFill>
                  <a:schemeClr val="dk1"/>
                </a:solidFill>
                <a:latin typeface="Calibri"/>
                <a:ea typeface="Calibri"/>
                <a:cs typeface="Calibri"/>
                <a:sym typeface="Calibri"/>
              </a:rPr>
              <a:t>. Se eligieron por permitir una planificación estructurada y una definición clara de los requerimientos antes del desarrollo. </a:t>
            </a:r>
            <a:endParaRPr sz="1800">
              <a:solidFill>
                <a:schemeClr val="dk1"/>
              </a:solidFill>
              <a:latin typeface="Calibri"/>
              <a:ea typeface="Calibri"/>
              <a:cs typeface="Calibri"/>
              <a:sym typeface="Calibri"/>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EscuelaIT Duoc UC - Escuela de Informática y Telecomunicaciones Duoc UC - Duoc  UC | LinkedIn" id="134" name="Google Shape;134;p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35" name="Google Shape;135;p5"/>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rgbClr val="757070"/>
                </a:solidFill>
                <a:latin typeface="Calibri"/>
                <a:ea typeface="Calibri"/>
                <a:cs typeface="Calibri"/>
                <a:sym typeface="Calibri"/>
              </a:rPr>
              <a:t>PROYECTO “</a:t>
            </a:r>
            <a:r>
              <a:rPr lang="es-CL" sz="1600">
                <a:solidFill>
                  <a:srgbClr val="888888"/>
                </a:solidFill>
                <a:latin typeface="Georgia"/>
                <a:ea typeface="Georgia"/>
                <a:cs typeface="Georgia"/>
                <a:sym typeface="Georgia"/>
              </a:rPr>
              <a:t>Sistema de Gestión Residencial del Edificio</a:t>
            </a:r>
            <a:r>
              <a:rPr lang="es-CL" sz="1800">
                <a:solidFill>
                  <a:srgbClr val="757070"/>
                </a:solidFill>
                <a:latin typeface="Calibri"/>
                <a:ea typeface="Calibri"/>
                <a:cs typeface="Calibri"/>
                <a:sym typeface="Calibri"/>
              </a:rPr>
              <a:t>”</a:t>
            </a:r>
            <a:endParaRPr/>
          </a:p>
        </p:txBody>
      </p:sp>
      <p:sp>
        <p:nvSpPr>
          <p:cNvPr id="136" name="Google Shape;136;p5"/>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OBJETIVOS, ALCANCE Y LIMITACIONES DEL PROYECTO</a:t>
            </a:r>
            <a:endParaRPr/>
          </a:p>
        </p:txBody>
      </p:sp>
      <p:cxnSp>
        <p:nvCxnSpPr>
          <p:cNvPr id="137" name="Google Shape;137;p5"/>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38" name="Google Shape;138;p5"/>
          <p:cNvSpPr txBox="1"/>
          <p:nvPr/>
        </p:nvSpPr>
        <p:spPr>
          <a:xfrm>
            <a:off x="638225" y="2926625"/>
            <a:ext cx="3726000" cy="2555100"/>
          </a:xfrm>
          <a:prstGeom prst="rect">
            <a:avLst/>
          </a:prstGeom>
          <a:noFill/>
          <a:ln>
            <a:noFill/>
          </a:ln>
        </p:spPr>
        <p:txBody>
          <a:bodyPr anchorCtr="0" anchor="t" bIns="91425" lIns="91425" spcFirstLastPara="1" rIns="91425" wrap="square" tIns="91425">
            <a:spAutoFit/>
          </a:bodyPr>
          <a:lstStyle/>
          <a:p>
            <a:pPr indent="0" lvl="0" marL="0" rtl="0" algn="just">
              <a:spcBef>
                <a:spcPts val="600"/>
              </a:spcBef>
              <a:spcAft>
                <a:spcPts val="600"/>
              </a:spcAft>
              <a:buNone/>
            </a:pPr>
            <a:r>
              <a:rPr b="1" lang="es-CL">
                <a:solidFill>
                  <a:schemeClr val="dk1"/>
                </a:solidFill>
                <a:latin typeface="Georgia"/>
                <a:ea typeface="Georgia"/>
                <a:cs typeface="Georgia"/>
                <a:sym typeface="Georgia"/>
              </a:rPr>
              <a:t>El sistema propuesto será una plataforma de gestión residencial destinada a optimizar la administración interna del edificio “El Mirador”. Su objetivo principal será centralizar la información de residentes, propietarios, arrendatarios, personal del edificio, pagos de gastos comunes, solicitudes de mantención y canales de comunicación con la administración.</a:t>
            </a:r>
            <a:endParaRPr b="1" sz="1600"/>
          </a:p>
        </p:txBody>
      </p:sp>
      <p:sp>
        <p:nvSpPr>
          <p:cNvPr id="139" name="Google Shape;139;p5"/>
          <p:cNvSpPr txBox="1"/>
          <p:nvPr/>
        </p:nvSpPr>
        <p:spPr>
          <a:xfrm>
            <a:off x="1369775" y="2334800"/>
            <a:ext cx="2262900" cy="4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2800">
                <a:solidFill>
                  <a:schemeClr val="dk1"/>
                </a:solidFill>
                <a:latin typeface="Calibri"/>
                <a:ea typeface="Calibri"/>
                <a:cs typeface="Calibri"/>
                <a:sym typeface="Calibri"/>
              </a:rPr>
              <a:t>Objetivo.</a:t>
            </a:r>
            <a:endParaRPr sz="2800">
              <a:solidFill>
                <a:schemeClr val="dk1"/>
              </a:solidFill>
              <a:latin typeface="Calibri"/>
              <a:ea typeface="Calibri"/>
              <a:cs typeface="Calibri"/>
              <a:sym typeface="Calibri"/>
            </a:endParaRPr>
          </a:p>
        </p:txBody>
      </p:sp>
      <p:sp>
        <p:nvSpPr>
          <p:cNvPr id="140" name="Google Shape;140;p5"/>
          <p:cNvSpPr txBox="1"/>
          <p:nvPr/>
        </p:nvSpPr>
        <p:spPr>
          <a:xfrm>
            <a:off x="4840225" y="2926625"/>
            <a:ext cx="3023700" cy="34170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600"/>
              </a:spcAft>
              <a:buNone/>
            </a:pPr>
            <a:r>
              <a:rPr b="1" lang="es-CL">
                <a:solidFill>
                  <a:schemeClr val="dk1"/>
                </a:solidFill>
                <a:latin typeface="Georgia"/>
                <a:ea typeface="Georgia"/>
                <a:cs typeface="Georgia"/>
                <a:sym typeface="Georgia"/>
              </a:rPr>
              <a:t>El sistema permitirá registrar y consultar datos de los departamentos, controlar pagos, identificar morosidad, generar reportes e informar a los residentes sobre sus estados de cuenta. Además, facilitará la recepción de quejas, solicitudes y observaciones por parte de los usuarios, mejorando la comunicación y reduciendo los errores derivados de procesos manuales.</a:t>
            </a:r>
            <a:endParaRPr b="1" sz="1600"/>
          </a:p>
        </p:txBody>
      </p:sp>
      <p:sp>
        <p:nvSpPr>
          <p:cNvPr id="141" name="Google Shape;141;p5"/>
          <p:cNvSpPr txBox="1"/>
          <p:nvPr/>
        </p:nvSpPr>
        <p:spPr>
          <a:xfrm>
            <a:off x="5382288" y="2376500"/>
            <a:ext cx="14274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2800">
                <a:solidFill>
                  <a:schemeClr val="dk1"/>
                </a:solidFill>
                <a:latin typeface="Calibri"/>
                <a:ea typeface="Calibri"/>
                <a:cs typeface="Calibri"/>
                <a:sym typeface="Calibri"/>
              </a:rPr>
              <a:t>Alcance</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42" name="Google Shape;142;p5"/>
          <p:cNvSpPr txBox="1"/>
          <p:nvPr/>
        </p:nvSpPr>
        <p:spPr>
          <a:xfrm>
            <a:off x="8339925" y="2926625"/>
            <a:ext cx="3000000" cy="23397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600"/>
              </a:spcAft>
              <a:buNone/>
            </a:pPr>
            <a:r>
              <a:rPr b="1" lang="es-CL">
                <a:solidFill>
                  <a:schemeClr val="dk1"/>
                </a:solidFill>
                <a:latin typeface="Georgia"/>
                <a:ea typeface="Georgia"/>
                <a:cs typeface="Georgia"/>
                <a:sym typeface="Georgia"/>
              </a:rPr>
              <a:t>El sistema no </a:t>
            </a:r>
            <a:r>
              <a:rPr b="1" lang="es-CL">
                <a:solidFill>
                  <a:schemeClr val="dk1"/>
                </a:solidFill>
                <a:latin typeface="Georgia"/>
                <a:ea typeface="Georgia"/>
                <a:cs typeface="Georgia"/>
                <a:sym typeface="Georgia"/>
              </a:rPr>
              <a:t>abarca</a:t>
            </a:r>
            <a:r>
              <a:rPr b="1" lang="es-CL">
                <a:solidFill>
                  <a:schemeClr val="dk1"/>
                </a:solidFill>
                <a:latin typeface="Georgia"/>
                <a:ea typeface="Georgia"/>
                <a:cs typeface="Georgia"/>
                <a:sym typeface="Georgia"/>
              </a:rPr>
              <a:t> actividades ajenas a la administración interna del edificio, como control contable externo, gestión legal avanzada o integración con sistemas bancarios complejos, salvo que se especifique como mejora futuro</a:t>
            </a:r>
            <a:endParaRPr b="1" sz="1600"/>
          </a:p>
        </p:txBody>
      </p:sp>
      <p:sp>
        <p:nvSpPr>
          <p:cNvPr id="143" name="Google Shape;143;p5"/>
          <p:cNvSpPr txBox="1"/>
          <p:nvPr/>
        </p:nvSpPr>
        <p:spPr>
          <a:xfrm>
            <a:off x="8339925" y="2334800"/>
            <a:ext cx="3000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2600">
                <a:solidFill>
                  <a:schemeClr val="dk1"/>
                </a:solidFill>
                <a:latin typeface="Calibri"/>
                <a:ea typeface="Calibri"/>
                <a:cs typeface="Calibri"/>
                <a:sym typeface="Calibri"/>
              </a:rPr>
              <a:t>LIMITACIONES</a:t>
            </a:r>
            <a:endParaRPr sz="400"/>
          </a:p>
        </p:txBody>
      </p:sp>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EscuelaIT Duoc UC - Escuela de Informática y Telecomunicaciones Duoc UC - Duoc  UC | LinkedIn" id="148" name="Google Shape;148;p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49" name="Google Shape;149;p6"/>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rgbClr val="757070"/>
                </a:solidFill>
                <a:latin typeface="Calibri"/>
                <a:ea typeface="Calibri"/>
                <a:cs typeface="Calibri"/>
                <a:sym typeface="Calibri"/>
              </a:rPr>
              <a:t>PROYECTO “</a:t>
            </a:r>
            <a:r>
              <a:rPr lang="es-CL" sz="1600">
                <a:solidFill>
                  <a:srgbClr val="888888"/>
                </a:solidFill>
                <a:latin typeface="Georgia"/>
                <a:ea typeface="Georgia"/>
                <a:cs typeface="Georgia"/>
                <a:sym typeface="Georgia"/>
              </a:rPr>
              <a:t>Sistema de Gestión Residencial del Edificio</a:t>
            </a:r>
            <a:r>
              <a:rPr lang="es-CL" sz="1800">
                <a:solidFill>
                  <a:srgbClr val="757070"/>
                </a:solidFill>
                <a:latin typeface="Calibri"/>
                <a:ea typeface="Calibri"/>
                <a:cs typeface="Calibri"/>
                <a:sym typeface="Calibri"/>
              </a:rPr>
              <a:t>”</a:t>
            </a:r>
            <a:endParaRPr/>
          </a:p>
        </p:txBody>
      </p:sp>
      <p:sp>
        <p:nvSpPr>
          <p:cNvPr id="150" name="Google Shape;150;p6"/>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ESTRATEGIAS DE GESTIÓN DEL PROYECTO</a:t>
            </a:r>
            <a:endParaRPr sz="1800">
              <a:solidFill>
                <a:schemeClr val="dk1"/>
              </a:solidFill>
              <a:latin typeface="Calibri"/>
              <a:ea typeface="Calibri"/>
              <a:cs typeface="Calibri"/>
              <a:sym typeface="Calibri"/>
            </a:endParaRPr>
          </a:p>
        </p:txBody>
      </p:sp>
      <p:cxnSp>
        <p:nvCxnSpPr>
          <p:cNvPr id="151" name="Google Shape;151;p6"/>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52" name="Google Shape;152;p6"/>
          <p:cNvSpPr txBox="1"/>
          <p:nvPr/>
        </p:nvSpPr>
        <p:spPr>
          <a:xfrm>
            <a:off x="2152788" y="2262775"/>
            <a:ext cx="81588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500">
                <a:solidFill>
                  <a:schemeClr val="dk1"/>
                </a:solidFill>
                <a:latin typeface="Urbanist SemiBold"/>
                <a:ea typeface="Urbanist SemiBold"/>
                <a:cs typeface="Urbanist SemiBold"/>
                <a:sym typeface="Urbanist SemiBold"/>
              </a:rPr>
              <a:t>Para el desarrollo del sistema de administración del Edificio El Mirador, optamos por utilizar la metodología tradicional en cascada (Waterfall). Esta decisión se fundamenta en la necesidad de mantener un control riguroso y documentado sobre cada etapa del ciclo de vida del proyecto. Dado que los requerimientos funcionales y de calidad estaban claramente definidos y estables desde el inicio, este enfoque nos permitió avanzar de forma estructurada y secuencial a través de las fases de análisis, diseño arquitectónico, prototipado y pruebas, asegurando la solidez de la plataforma antes de avanzar a la siguiente etapa.</a:t>
            </a:r>
            <a:endParaRPr sz="1500">
              <a:solidFill>
                <a:schemeClr val="dk1"/>
              </a:solidFill>
              <a:latin typeface="Urbanist SemiBold"/>
              <a:ea typeface="Urbanist SemiBold"/>
              <a:cs typeface="Urbanist SemiBold"/>
              <a:sym typeface="Urbanist SemiBold"/>
            </a:endParaRPr>
          </a:p>
          <a:p>
            <a:pPr indent="0" lvl="0" marL="0" rtl="0" algn="l">
              <a:spcBef>
                <a:spcPts val="0"/>
              </a:spcBef>
              <a:spcAft>
                <a:spcPts val="0"/>
              </a:spcAft>
              <a:buNone/>
            </a:pPr>
            <a:r>
              <a:t/>
            </a:r>
            <a:endParaRPr sz="1500">
              <a:solidFill>
                <a:schemeClr val="dk1"/>
              </a:solidFill>
              <a:latin typeface="Urbanist SemiBold"/>
              <a:ea typeface="Urbanist SemiBold"/>
              <a:cs typeface="Urbanist SemiBold"/>
              <a:sym typeface="Urbanist SemiBold"/>
            </a:endParaRPr>
          </a:p>
          <a:p>
            <a:pPr indent="0" lvl="0" marL="0" rtl="0" algn="l">
              <a:spcBef>
                <a:spcPts val="0"/>
              </a:spcBef>
              <a:spcAft>
                <a:spcPts val="0"/>
              </a:spcAft>
              <a:buNone/>
            </a:pPr>
            <a:r>
              <a:rPr lang="es-CL" sz="1500">
                <a:solidFill>
                  <a:schemeClr val="dk1"/>
                </a:solidFill>
                <a:latin typeface="Urbanist SemiBold"/>
                <a:ea typeface="Urbanist SemiBold"/>
                <a:cs typeface="Urbanist SemiBold"/>
                <a:sym typeface="Urbanist SemiBold"/>
              </a:rPr>
              <a:t>Además, se estableció una planificación con entregables definidos, revisiones al finalizar cada fase y documentación continua, facilitando el seguimiento del avance, el control de los requerimientos y la detección temprana de posibles desviaciones antes de continuar con el desarrollo. </a:t>
            </a:r>
            <a:endParaRPr sz="1500">
              <a:solidFill>
                <a:schemeClr val="dk1"/>
              </a:solidFill>
              <a:latin typeface="Urbanist SemiBold"/>
              <a:ea typeface="Urbanist SemiBold"/>
              <a:cs typeface="Urbanist SemiBold"/>
              <a:sym typeface="Urbanist SemiBold"/>
            </a:endParaRPr>
          </a:p>
        </p:txBody>
      </p:sp>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f33002946f_0_1"/>
          <p:cNvSpPr txBox="1"/>
          <p:nvPr>
            <p:ph type="ctrTitle"/>
          </p:nvPr>
        </p:nvSpPr>
        <p:spPr>
          <a:xfrm>
            <a:off x="1524000" y="1122400"/>
            <a:ext cx="9144000" cy="1098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SzPts val="990"/>
              <a:buNone/>
            </a:pPr>
            <a:r>
              <a:rPr lang="es-CL" sz="4400"/>
              <a:t>EDT (</a:t>
            </a:r>
            <a:r>
              <a:rPr lang="es-CL" sz="4400"/>
              <a:t>Estructura de Desglose del Trabajo)</a:t>
            </a:r>
            <a:endParaRPr sz="4400"/>
          </a:p>
        </p:txBody>
      </p:sp>
      <p:sp>
        <p:nvSpPr>
          <p:cNvPr id="158" name="Google Shape;158;g3f33002946f_0_1"/>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rgbClr val="757070"/>
                </a:solidFill>
                <a:latin typeface="Calibri"/>
                <a:ea typeface="Calibri"/>
                <a:cs typeface="Calibri"/>
                <a:sym typeface="Calibri"/>
              </a:rPr>
              <a:t>PROYECTO “</a:t>
            </a:r>
            <a:r>
              <a:rPr lang="es-CL" sz="1600">
                <a:solidFill>
                  <a:srgbClr val="888888"/>
                </a:solidFill>
                <a:latin typeface="Georgia"/>
                <a:ea typeface="Georgia"/>
                <a:cs typeface="Georgia"/>
                <a:sym typeface="Georgia"/>
              </a:rPr>
              <a:t>Sistema de Gestión Residencial del Edificio</a:t>
            </a:r>
            <a:r>
              <a:rPr lang="es-CL" sz="1800">
                <a:solidFill>
                  <a:srgbClr val="757070"/>
                </a:solidFill>
                <a:latin typeface="Calibri"/>
                <a:ea typeface="Calibri"/>
                <a:cs typeface="Calibri"/>
                <a:sym typeface="Calibri"/>
              </a:rPr>
              <a:t>”</a:t>
            </a:r>
            <a:endParaRPr/>
          </a:p>
        </p:txBody>
      </p:sp>
      <p:pic>
        <p:nvPicPr>
          <p:cNvPr descr="EscuelaIT Duoc UC - Escuela de Informática y Telecomunicaciones Duoc UC - Duoc  UC | LinkedIn" id="159" name="Google Shape;159;g3f33002946f_0_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60" name="Google Shape;160;g3f33002946f_0_1"/>
          <p:cNvSpPr txBox="1"/>
          <p:nvPr/>
        </p:nvSpPr>
        <p:spPr>
          <a:xfrm>
            <a:off x="1524000" y="2220400"/>
            <a:ext cx="9724500" cy="451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es-CL" sz="1800"/>
              <a:t>├── 1. Análisis</a:t>
            </a:r>
            <a:endParaRPr sz="1800"/>
          </a:p>
          <a:p>
            <a:pPr indent="0" lvl="0" marL="0" rtl="0" algn="l">
              <a:spcBef>
                <a:spcPts val="0"/>
              </a:spcBef>
              <a:spcAft>
                <a:spcPts val="0"/>
              </a:spcAft>
              <a:buNone/>
            </a:pPr>
            <a:r>
              <a:rPr lang="es-CL" sz="1800"/>
              <a:t>│   ├── Levantamiento de requerimientos</a:t>
            </a:r>
            <a:endParaRPr sz="1800"/>
          </a:p>
          <a:p>
            <a:pPr indent="0" lvl="0" marL="0" rtl="0" algn="l">
              <a:spcBef>
                <a:spcPts val="0"/>
              </a:spcBef>
              <a:spcAft>
                <a:spcPts val="0"/>
              </a:spcAft>
              <a:buNone/>
            </a:pPr>
            <a:r>
              <a:rPr lang="es-CL" sz="1800"/>
              <a:t>│   ├── Identificación de actores</a:t>
            </a:r>
            <a:endParaRPr sz="1800"/>
          </a:p>
          <a:p>
            <a:pPr indent="0" lvl="0" marL="0" rtl="0" algn="l">
              <a:spcBef>
                <a:spcPts val="0"/>
              </a:spcBef>
              <a:spcAft>
                <a:spcPts val="0"/>
              </a:spcAft>
              <a:buNone/>
            </a:pPr>
            <a:r>
              <a:rPr lang="es-CL" sz="1800"/>
              <a:t>│   └── Especificación de requisitos</a:t>
            </a:r>
            <a:endParaRPr sz="1800"/>
          </a:p>
          <a:p>
            <a:pPr indent="0" lvl="0" marL="0" rtl="0" algn="l">
              <a:spcBef>
                <a:spcPts val="0"/>
              </a:spcBef>
              <a:spcAft>
                <a:spcPts val="0"/>
              </a:spcAft>
              <a:buNone/>
            </a:pPr>
            <a:r>
              <a:rPr lang="es-CL" sz="1800"/>
              <a:t>│</a:t>
            </a:r>
            <a:endParaRPr sz="1800"/>
          </a:p>
          <a:p>
            <a:pPr indent="0" lvl="0" marL="0" rtl="0" algn="l">
              <a:spcBef>
                <a:spcPts val="0"/>
              </a:spcBef>
              <a:spcAft>
                <a:spcPts val="0"/>
              </a:spcAft>
              <a:buNone/>
            </a:pPr>
            <a:r>
              <a:rPr lang="es-CL" sz="1800"/>
              <a:t>├── 2. Diseño</a:t>
            </a:r>
            <a:endParaRPr sz="1800"/>
          </a:p>
          <a:p>
            <a:pPr indent="0" lvl="0" marL="0" rtl="0" algn="l">
              <a:spcBef>
                <a:spcPts val="0"/>
              </a:spcBef>
              <a:spcAft>
                <a:spcPts val="0"/>
              </a:spcAft>
              <a:buNone/>
            </a:pPr>
            <a:r>
              <a:rPr lang="es-CL" sz="1800"/>
              <a:t>│   ├── Arquitectura del sistema</a:t>
            </a:r>
            <a:endParaRPr sz="1800"/>
          </a:p>
          <a:p>
            <a:pPr indent="0" lvl="0" marL="0" rtl="0" algn="l">
              <a:spcBef>
                <a:spcPts val="0"/>
              </a:spcBef>
              <a:spcAft>
                <a:spcPts val="0"/>
              </a:spcAft>
              <a:buNone/>
            </a:pPr>
            <a:r>
              <a:rPr lang="es-CL" sz="1800"/>
              <a:t>│   ├── Diagramas UML</a:t>
            </a:r>
            <a:endParaRPr sz="1800"/>
          </a:p>
          <a:p>
            <a:pPr indent="0" lvl="0" marL="0" rtl="0" algn="l">
              <a:spcBef>
                <a:spcPts val="0"/>
              </a:spcBef>
              <a:spcAft>
                <a:spcPts val="0"/>
              </a:spcAft>
              <a:buNone/>
            </a:pPr>
            <a:r>
              <a:rPr lang="es-CL" sz="1800"/>
              <a:t>│   └── Prototipo de interfaces</a:t>
            </a:r>
            <a:endParaRPr sz="1800"/>
          </a:p>
          <a:p>
            <a:pPr indent="0" lvl="0" marL="0" rtl="0" algn="l">
              <a:spcBef>
                <a:spcPts val="0"/>
              </a:spcBef>
              <a:spcAft>
                <a:spcPts val="0"/>
              </a:spcAft>
              <a:buNone/>
            </a:pPr>
            <a:r>
              <a:rPr lang="es-CL" sz="1800"/>
              <a:t>│</a:t>
            </a:r>
            <a:endParaRPr sz="1800"/>
          </a:p>
          <a:p>
            <a:pPr indent="0" lvl="0" marL="0" rtl="0" algn="l">
              <a:spcBef>
                <a:spcPts val="0"/>
              </a:spcBef>
              <a:spcAft>
                <a:spcPts val="0"/>
              </a:spcAft>
              <a:buNone/>
            </a:pPr>
            <a:r>
              <a:rPr lang="es-CL" sz="1800"/>
              <a:t>├── 3. Desarrollo</a:t>
            </a:r>
            <a:endParaRPr sz="1800"/>
          </a:p>
          <a:p>
            <a:pPr indent="0" lvl="0" marL="0" rtl="0" algn="l">
              <a:spcBef>
                <a:spcPts val="0"/>
              </a:spcBef>
              <a:spcAft>
                <a:spcPts val="0"/>
              </a:spcAft>
              <a:buNone/>
            </a:pPr>
            <a:r>
              <a:rPr lang="es-CL" sz="1800"/>
              <a:t>│   ├── Gestión de usuarios</a:t>
            </a:r>
            <a:endParaRPr sz="1800"/>
          </a:p>
          <a:p>
            <a:pPr indent="0" lvl="0" marL="0" rtl="0" algn="l">
              <a:spcBef>
                <a:spcPts val="0"/>
              </a:spcBef>
              <a:spcAft>
                <a:spcPts val="0"/>
              </a:spcAft>
              <a:buNone/>
            </a:pPr>
            <a:r>
              <a:rPr lang="es-CL" sz="1800"/>
              <a:t>│   ├── Gestión de pagos</a:t>
            </a:r>
            <a:endParaRPr sz="1800"/>
          </a:p>
          <a:p>
            <a:pPr indent="0" lvl="0" marL="0" rtl="0" algn="l">
              <a:spcBef>
                <a:spcPts val="0"/>
              </a:spcBef>
              <a:spcAft>
                <a:spcPts val="0"/>
              </a:spcAft>
              <a:buNone/>
            </a:pPr>
            <a:r>
              <a:rPr lang="es-CL" sz="1800"/>
              <a:t>│   ├── Gestión de solicitudes</a:t>
            </a:r>
            <a:endParaRPr sz="1800"/>
          </a:p>
          <a:p>
            <a:pPr indent="0" lvl="0" marL="0" rtl="0" algn="l">
              <a:spcBef>
                <a:spcPts val="0"/>
              </a:spcBef>
              <a:spcAft>
                <a:spcPts val="0"/>
              </a:spcAft>
              <a:buNone/>
            </a:pPr>
            <a:r>
              <a:rPr lang="es-CL" sz="1800"/>
              <a:t>│   └── Reportes</a:t>
            </a:r>
            <a:endParaRPr sz="1800"/>
          </a:p>
          <a:p>
            <a:pPr indent="0" lvl="0" marL="0" rtl="0" algn="l">
              <a:spcBef>
                <a:spcPts val="0"/>
              </a:spcBef>
              <a:spcAft>
                <a:spcPts val="0"/>
              </a:spcAft>
              <a:buNone/>
            </a:pPr>
            <a:r>
              <a:rPr lang="es-CL" sz="1800"/>
              <a:t>│</a:t>
            </a:r>
            <a:endParaRPr sz="1800"/>
          </a:p>
          <a:p>
            <a:pPr indent="0" lvl="0" marL="0" rtl="0" algn="l">
              <a:spcBef>
                <a:spcPts val="0"/>
              </a:spcBef>
              <a:spcAft>
                <a:spcPts val="0"/>
              </a:spcAft>
              <a:buNone/>
            </a:pPr>
            <a:r>
              <a:rPr lang="es-CL" sz="1800"/>
              <a:t>├── 4. Pruebas</a:t>
            </a:r>
            <a:endParaRPr sz="1800"/>
          </a:p>
          <a:p>
            <a:pPr indent="0" lvl="0" marL="0" rtl="0" algn="l">
              <a:spcBef>
                <a:spcPts val="0"/>
              </a:spcBef>
              <a:spcAft>
                <a:spcPts val="0"/>
              </a:spcAft>
              <a:buNone/>
            </a:pPr>
            <a:r>
              <a:rPr lang="es-CL" sz="1800"/>
              <a:t>│   ├── Pruebas funcionales</a:t>
            </a:r>
            <a:endParaRPr sz="1800"/>
          </a:p>
          <a:p>
            <a:pPr indent="0" lvl="0" marL="0" rtl="0" algn="l">
              <a:spcBef>
                <a:spcPts val="0"/>
              </a:spcBef>
              <a:spcAft>
                <a:spcPts val="0"/>
              </a:spcAft>
              <a:buNone/>
            </a:pPr>
            <a:r>
              <a:rPr lang="es-CL" sz="1800"/>
              <a:t>│   ├── Pruebas de usabilidad</a:t>
            </a:r>
            <a:endParaRPr sz="1800"/>
          </a:p>
          <a:p>
            <a:pPr indent="0" lvl="0" marL="0" rtl="0" algn="l">
              <a:spcBef>
                <a:spcPts val="0"/>
              </a:spcBef>
              <a:spcAft>
                <a:spcPts val="0"/>
              </a:spcAft>
              <a:buNone/>
            </a:pPr>
            <a:r>
              <a:rPr lang="es-CL" sz="1800"/>
              <a:t>│   └── Corrección de errores</a:t>
            </a:r>
            <a:endParaRPr sz="1800"/>
          </a:p>
          <a:p>
            <a:pPr indent="0" lvl="0" marL="0" rtl="0" algn="l">
              <a:spcBef>
                <a:spcPts val="0"/>
              </a:spcBef>
              <a:spcAft>
                <a:spcPts val="0"/>
              </a:spcAft>
              <a:buNone/>
            </a:pPr>
            <a:r>
              <a:rPr lang="es-CL" sz="1800"/>
              <a:t>│</a:t>
            </a:r>
            <a:endParaRPr sz="1800"/>
          </a:p>
          <a:p>
            <a:pPr indent="0" lvl="0" marL="0" rtl="0" algn="l">
              <a:spcBef>
                <a:spcPts val="0"/>
              </a:spcBef>
              <a:spcAft>
                <a:spcPts val="0"/>
              </a:spcAft>
              <a:buNone/>
            </a:pPr>
            <a:r>
              <a:rPr lang="es-CL" sz="1800"/>
              <a:t>└── 5. Documentación y entrega</a:t>
            </a:r>
            <a:endParaRPr sz="1800"/>
          </a:p>
          <a:p>
            <a:pPr indent="0" lvl="0" marL="0" rtl="0" algn="l">
              <a:spcBef>
                <a:spcPts val="0"/>
              </a:spcBef>
              <a:spcAft>
                <a:spcPts val="0"/>
              </a:spcAft>
              <a:buNone/>
            </a:pPr>
            <a:r>
              <a:rPr lang="es-CL" sz="1800"/>
              <a:t>    ├── Manuales</a:t>
            </a:r>
            <a:endParaRPr sz="1800"/>
          </a:p>
          <a:p>
            <a:pPr indent="0" lvl="0" marL="0" rtl="0" algn="l">
              <a:spcBef>
                <a:spcPts val="0"/>
              </a:spcBef>
              <a:spcAft>
                <a:spcPts val="0"/>
              </a:spcAft>
              <a:buNone/>
            </a:pPr>
            <a:r>
              <a:rPr lang="es-CL" sz="1800"/>
              <a:t>    ├── Informe final</a:t>
            </a:r>
            <a:endParaRPr sz="1800"/>
          </a:p>
          <a:p>
            <a:pPr indent="0" lvl="0" marL="0" rtl="0" algn="l">
              <a:spcBef>
                <a:spcPts val="0"/>
              </a:spcBef>
              <a:spcAft>
                <a:spcPts val="0"/>
              </a:spcAft>
              <a:buNone/>
            </a:pPr>
            <a:r>
              <a:rPr lang="es-CL" sz="1800"/>
              <a:t>    └── Presentación del proyecto</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EscuelaIT Duoc UC - Escuela de Informática y Telecomunicaciones Duoc UC - Duoc  UC | LinkedIn" id="165" name="Google Shape;165;p7"/>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66" name="Google Shape;166;p7"/>
          <p:cNvSpPr txBox="1"/>
          <p:nvPr/>
        </p:nvSpPr>
        <p:spPr>
          <a:xfrm>
            <a:off x="211963" y="415578"/>
            <a:ext cx="12192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rgbClr val="757070"/>
                </a:solidFill>
                <a:latin typeface="Calibri"/>
                <a:ea typeface="Calibri"/>
                <a:cs typeface="Calibri"/>
                <a:sym typeface="Calibri"/>
              </a:rPr>
              <a:t>PROYECTO “</a:t>
            </a:r>
            <a:r>
              <a:rPr lang="es-CL" sz="1600">
                <a:solidFill>
                  <a:srgbClr val="888888"/>
                </a:solidFill>
                <a:latin typeface="Georgia"/>
                <a:ea typeface="Georgia"/>
                <a:cs typeface="Georgia"/>
                <a:sym typeface="Georgia"/>
              </a:rPr>
              <a:t>Sistema de Gestión Residencial del Edificio</a:t>
            </a:r>
            <a:r>
              <a:rPr lang="es-CL" sz="1800">
                <a:solidFill>
                  <a:srgbClr val="757070"/>
                </a:solidFill>
                <a:latin typeface="Calibri"/>
                <a:ea typeface="Calibri"/>
                <a:cs typeface="Calibri"/>
                <a:sym typeface="Calibri"/>
              </a:rPr>
              <a:t>”</a:t>
            </a:r>
            <a:endParaRPr/>
          </a:p>
        </p:txBody>
      </p:sp>
      <p:sp>
        <p:nvSpPr>
          <p:cNvPr id="167" name="Google Shape;167;p7"/>
          <p:cNvSpPr txBox="1"/>
          <p:nvPr/>
        </p:nvSpPr>
        <p:spPr>
          <a:xfrm>
            <a:off x="1" y="1155656"/>
            <a:ext cx="12192000" cy="800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PLANIFICACIÓN DEL PROYECTO (EDT + CARTA GANTT)</a:t>
            </a:r>
            <a:endParaRPr/>
          </a:p>
          <a:p>
            <a:pPr indent="0" lvl="0" marL="0" marR="0" rtl="0" algn="ctr">
              <a:spcBef>
                <a:spcPts val="0"/>
              </a:spcBef>
              <a:spcAft>
                <a:spcPts val="0"/>
              </a:spcAft>
              <a:buNone/>
            </a:pPr>
            <a:r>
              <a:t/>
            </a:r>
            <a:endParaRPr sz="1000">
              <a:solidFill>
                <a:srgbClr val="757070"/>
              </a:solidFill>
              <a:latin typeface="Calibri"/>
              <a:ea typeface="Calibri"/>
              <a:cs typeface="Calibri"/>
              <a:sym typeface="Calibri"/>
            </a:endParaRPr>
          </a:p>
        </p:txBody>
      </p:sp>
      <p:cxnSp>
        <p:nvCxnSpPr>
          <p:cNvPr id="168" name="Google Shape;168;p7"/>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graphicFrame>
        <p:nvGraphicFramePr>
          <p:cNvPr id="169" name="Google Shape;169;p7"/>
          <p:cNvGraphicFramePr/>
          <p:nvPr/>
        </p:nvGraphicFramePr>
        <p:xfrm>
          <a:off x="1248696" y="2595717"/>
          <a:ext cx="3000000" cy="3000000"/>
        </p:xfrm>
        <a:graphic>
          <a:graphicData uri="http://schemas.openxmlformats.org/drawingml/2006/table">
            <a:tbl>
              <a:tblPr>
                <a:noFill/>
                <a:tableStyleId>{2796DD23-CAE1-4C5A-8ED7-5172C02526EC}</a:tableStyleId>
              </a:tblPr>
              <a:tblGrid>
                <a:gridCol w="1245550"/>
                <a:gridCol w="494150"/>
                <a:gridCol w="482175"/>
                <a:gridCol w="484950"/>
                <a:gridCol w="484950"/>
                <a:gridCol w="482175"/>
                <a:gridCol w="482175"/>
                <a:gridCol w="482175"/>
                <a:gridCol w="482175"/>
                <a:gridCol w="482175"/>
                <a:gridCol w="482175"/>
                <a:gridCol w="482175"/>
                <a:gridCol w="484025"/>
                <a:gridCol w="484025"/>
                <a:gridCol w="484025"/>
                <a:gridCol w="484025"/>
                <a:gridCol w="484025"/>
                <a:gridCol w="140125"/>
                <a:gridCol w="484025"/>
                <a:gridCol w="484025"/>
                <a:gridCol w="140125"/>
              </a:tblGrid>
              <a:tr h="524475">
                <a:tc rowSpan="2">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Actividad</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gridSpan="4">
                  <a:txBody>
                    <a:bodyPr/>
                    <a:lstStyle/>
                    <a:p>
                      <a:pPr indent="0" lvl="0" marL="0" marR="0" rtl="0" algn="ctr">
                        <a:lnSpc>
                          <a:spcPct val="150000"/>
                        </a:lnSpc>
                        <a:spcBef>
                          <a:spcPts val="0"/>
                        </a:spcBef>
                        <a:spcAft>
                          <a:spcPts val="0"/>
                        </a:spcAft>
                        <a:buNone/>
                      </a:pPr>
                      <a:r>
                        <a:rPr b="1" lang="es-CL" sz="800" u="none" cap="none" strike="noStrike">
                          <a:solidFill>
                            <a:srgbClr val="000000"/>
                          </a:solidFill>
                          <a:latin typeface="Calibri"/>
                          <a:ea typeface="Calibri"/>
                          <a:cs typeface="Calibri"/>
                          <a:sym typeface="Calibri"/>
                        </a:rPr>
                        <a:t>Fase 1</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E2EFD9"/>
                    </a:solidFill>
                  </a:tcPr>
                </a:tc>
                <a:tc hMerge="1"/>
                <a:tc hMerge="1"/>
                <a:tc hMerge="1"/>
                <a:tc gridSpan="12">
                  <a:txBody>
                    <a:bodyPr/>
                    <a:lstStyle/>
                    <a:p>
                      <a:pPr indent="0" lvl="0" marL="0" marR="0" rtl="0" algn="ctr">
                        <a:lnSpc>
                          <a:spcPct val="150000"/>
                        </a:lnSpc>
                        <a:spcBef>
                          <a:spcPts val="0"/>
                        </a:spcBef>
                        <a:spcAft>
                          <a:spcPts val="0"/>
                        </a:spcAft>
                        <a:buNone/>
                      </a:pPr>
                      <a:r>
                        <a:rPr b="1" lang="es-CL" sz="800" u="none" cap="none" strike="noStrike">
                          <a:solidFill>
                            <a:srgbClr val="000000"/>
                          </a:solidFill>
                          <a:latin typeface="Calibri"/>
                          <a:ea typeface="Calibri"/>
                          <a:cs typeface="Calibri"/>
                          <a:sym typeface="Calibri"/>
                        </a:rPr>
                        <a:t>Fase 2</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FFF2CC"/>
                    </a:solidFill>
                  </a:tcPr>
                </a:tc>
                <a:tc hMerge="1"/>
                <a:tc hMerge="1"/>
                <a:tc hMerge="1"/>
                <a:tc hMerge="1"/>
                <a:tc hMerge="1"/>
                <a:tc hMerge="1"/>
                <a:tc hMerge="1"/>
                <a:tc hMerge="1"/>
                <a:tc hMerge="1"/>
                <a:tc hMerge="1"/>
                <a:tc hMerge="1"/>
                <a:tc gridSpan="4">
                  <a:txBody>
                    <a:bodyPr/>
                    <a:lstStyle/>
                    <a:p>
                      <a:pPr indent="0" lvl="0" marL="0" marR="0" rtl="0" algn="ctr">
                        <a:lnSpc>
                          <a:spcPct val="150000"/>
                        </a:lnSpc>
                        <a:spcBef>
                          <a:spcPts val="0"/>
                        </a:spcBef>
                        <a:spcAft>
                          <a:spcPts val="0"/>
                        </a:spcAft>
                        <a:buNone/>
                      </a:pPr>
                      <a:r>
                        <a:rPr b="1" lang="es-CL" sz="800" u="none" cap="none" strike="noStrike">
                          <a:solidFill>
                            <a:srgbClr val="000000"/>
                          </a:solidFill>
                          <a:latin typeface="Calibri"/>
                          <a:ea typeface="Calibri"/>
                          <a:cs typeface="Calibri"/>
                          <a:sym typeface="Calibri"/>
                        </a:rPr>
                        <a:t>Fase 3</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FBE4D5"/>
                    </a:solidFill>
                  </a:tcPr>
                </a:tc>
                <a:tc hMerge="1"/>
                <a:tc hMerge="1"/>
                <a:tc hMerge="1"/>
              </a:tr>
              <a:tr h="540525">
                <a:tc vMerge="1"/>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2</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3</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4</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5</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6</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7</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8</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9</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10</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11</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12</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13</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14</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15</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gridSpan="2">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16</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hMerge="1"/>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17</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s-CL" sz="800" u="none" cap="none" strike="noStrike">
                          <a:latin typeface="Calibri"/>
                          <a:ea typeface="Calibri"/>
                          <a:cs typeface="Calibri"/>
                          <a:sym typeface="Calibri"/>
                        </a:rPr>
                        <a:t>S 18</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s-CL" sz="1100" u="none" cap="none" strike="noStrike">
                          <a:latin typeface="Calibri"/>
                          <a:ea typeface="Calibri"/>
                          <a:cs typeface="Calibri"/>
                          <a:sym typeface="Calibri"/>
                        </a:rPr>
                        <a:t> </a:t>
                      </a:r>
                      <a:endParaRPr/>
                    </a:p>
                  </a:txBody>
                  <a:tcPr marT="0" marB="0" marR="0" marL="0" anchor="ctr">
                    <a:lnL cap="flat" cmpd="sng" w="12700">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88300">
                <a:tc>
                  <a:txBody>
                    <a:bodyPr/>
                    <a:lstStyle/>
                    <a:p>
                      <a:pPr indent="0" lvl="0" marL="0" marR="0" rtl="0" algn="just">
                        <a:lnSpc>
                          <a:spcPct val="150000"/>
                        </a:lnSpc>
                        <a:spcBef>
                          <a:spcPts val="0"/>
                        </a:spcBef>
                        <a:spcAft>
                          <a:spcPts val="0"/>
                        </a:spcAft>
                        <a:buNone/>
                      </a:pPr>
                      <a:r>
                        <a:rPr i="1" lang="es-CL" sz="800" u="none" cap="none" strike="noStrike">
                          <a:solidFill>
                            <a:srgbClr val="548DD4"/>
                          </a:solidFill>
                          <a:latin typeface="Calibri"/>
                          <a:ea typeface="Calibri"/>
                          <a:cs typeface="Calibri"/>
                          <a:sym typeface="Calibri"/>
                        </a:rPr>
                        <a:t>Describe actividades del punto anterior</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gridSpan="2">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hMerge="1"/>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s-CL" sz="1100" u="none" cap="none" strike="noStrike">
                          <a:latin typeface="Calibri"/>
                          <a:ea typeface="Calibri"/>
                          <a:cs typeface="Calibri"/>
                          <a:sym typeface="Calibri"/>
                        </a:rPr>
                        <a:t> </a:t>
                      </a:r>
                      <a:endParaRPr/>
                    </a:p>
                  </a:txBody>
                  <a:tcPr marT="0" marB="0" marR="0" marL="0" anchor="ctr">
                    <a:lnL cap="flat" cmpd="sng" w="12700">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40525">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gridSpan="2">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hMerge="1"/>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s-CL" sz="1100" u="none" cap="none" strike="noStrike">
                          <a:latin typeface="Calibri"/>
                          <a:ea typeface="Calibri"/>
                          <a:cs typeface="Calibri"/>
                          <a:sym typeface="Calibri"/>
                        </a:rPr>
                        <a:t> </a:t>
                      </a:r>
                      <a:endParaRPr/>
                    </a:p>
                  </a:txBody>
                  <a:tcPr marT="0" marB="0" marR="0" marL="0" anchor="ctr">
                    <a:lnL cap="flat" cmpd="sng" w="12700">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4475">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gridSpan="2">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hMerge="1"/>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just">
                        <a:lnSpc>
                          <a:spcPct val="150000"/>
                        </a:lnSpc>
                        <a:spcBef>
                          <a:spcPts val="0"/>
                        </a:spcBef>
                        <a:spcAft>
                          <a:spcPts val="0"/>
                        </a:spcAft>
                        <a:buNone/>
                      </a:pPr>
                      <a:r>
                        <a:rPr b="1" lang="es-CL" sz="8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s-CL" sz="1100" u="none" cap="none" strike="noStrike">
                          <a:latin typeface="Calibri"/>
                          <a:ea typeface="Calibri"/>
                          <a:cs typeface="Calibri"/>
                          <a:sym typeface="Calibri"/>
                        </a:rPr>
                        <a:t> </a:t>
                      </a:r>
                      <a:endParaRPr/>
                    </a:p>
                  </a:txBody>
                  <a:tcPr marT="0" marB="0" marR="0" marL="0" anchor="ctr">
                    <a:lnL cap="flat" cmpd="sng" w="12700">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170" name="Google Shape;170;p7"/>
          <p:cNvPicPr preferRelativeResize="0"/>
          <p:nvPr/>
        </p:nvPicPr>
        <p:blipFill>
          <a:blip r:embed="rId4">
            <a:alphaModFix/>
          </a:blip>
          <a:stretch>
            <a:fillRect/>
          </a:stretch>
        </p:blipFill>
        <p:spPr>
          <a:xfrm>
            <a:off x="987500" y="2048200"/>
            <a:ext cx="10640925" cy="4498900"/>
          </a:xfrm>
          <a:prstGeom prst="rect">
            <a:avLst/>
          </a:prstGeom>
          <a:noFill/>
          <a:ln>
            <a:noFill/>
          </a:ln>
        </p:spPr>
      </p:pic>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EscuelaIT Duoc UC - Escuela de Informática y Telecomunicaciones Duoc UC - Duoc  UC | LinkedIn" id="175" name="Google Shape;175;p8"/>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76" name="Google Shape;176;p8"/>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rgbClr val="757070"/>
                </a:solidFill>
                <a:latin typeface="Calibri"/>
                <a:ea typeface="Calibri"/>
                <a:cs typeface="Calibri"/>
                <a:sym typeface="Calibri"/>
              </a:rPr>
              <a:t>PROYECTO “</a:t>
            </a:r>
            <a:r>
              <a:rPr lang="es-CL" sz="1600">
                <a:solidFill>
                  <a:srgbClr val="888888"/>
                </a:solidFill>
                <a:latin typeface="Georgia"/>
                <a:ea typeface="Georgia"/>
                <a:cs typeface="Georgia"/>
                <a:sym typeface="Georgia"/>
              </a:rPr>
              <a:t>Sistema de Gestión Residencial del Edificio</a:t>
            </a:r>
            <a:r>
              <a:rPr lang="es-CL" sz="1800">
                <a:solidFill>
                  <a:srgbClr val="757070"/>
                </a:solidFill>
                <a:latin typeface="Calibri"/>
                <a:ea typeface="Calibri"/>
                <a:cs typeface="Calibri"/>
                <a:sym typeface="Calibri"/>
              </a:rPr>
              <a:t>”</a:t>
            </a:r>
            <a:endParaRPr/>
          </a:p>
        </p:txBody>
      </p:sp>
      <p:sp>
        <p:nvSpPr>
          <p:cNvPr id="177" name="Google Shape;177;p8"/>
          <p:cNvSpPr txBox="1"/>
          <p:nvPr/>
        </p:nvSpPr>
        <p:spPr>
          <a:xfrm>
            <a:off x="0" y="933680"/>
            <a:ext cx="12192000" cy="1385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Escenario: Casos de Uso  • Vista Lógica: Clases  • Vista Desarrollo: Componentes  • Vista Proceso: Actividad  • Vista Física: Despliegue</a:t>
            </a:r>
            <a:endParaRPr/>
          </a:p>
        </p:txBody>
      </p:sp>
      <p:cxnSp>
        <p:nvCxnSpPr>
          <p:cNvPr id="178" name="Google Shape;178;p8"/>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pic>
        <p:nvPicPr>
          <p:cNvPr id="179" name="Google Shape;179;p8"/>
          <p:cNvPicPr preferRelativeResize="0"/>
          <p:nvPr/>
        </p:nvPicPr>
        <p:blipFill>
          <a:blip r:embed="rId4">
            <a:alphaModFix/>
          </a:blip>
          <a:stretch>
            <a:fillRect/>
          </a:stretch>
        </p:blipFill>
        <p:spPr>
          <a:xfrm>
            <a:off x="262500" y="2411925"/>
            <a:ext cx="6178950" cy="4084625"/>
          </a:xfrm>
          <a:prstGeom prst="rect">
            <a:avLst/>
          </a:prstGeom>
          <a:noFill/>
          <a:ln>
            <a:noFill/>
          </a:ln>
        </p:spPr>
      </p:pic>
      <p:pic>
        <p:nvPicPr>
          <p:cNvPr id="180" name="Google Shape;180;p8"/>
          <p:cNvPicPr preferRelativeResize="0"/>
          <p:nvPr/>
        </p:nvPicPr>
        <p:blipFill>
          <a:blip r:embed="rId5">
            <a:alphaModFix/>
          </a:blip>
          <a:stretch>
            <a:fillRect/>
          </a:stretch>
        </p:blipFill>
        <p:spPr>
          <a:xfrm>
            <a:off x="6592250" y="2411925"/>
            <a:ext cx="5321300" cy="4084625"/>
          </a:xfrm>
          <a:prstGeom prst="rect">
            <a:avLst/>
          </a:prstGeom>
          <a:noFill/>
          <a:ln>
            <a:noFill/>
          </a:ln>
        </p:spPr>
      </p:pic>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f306541c7c_0_28"/>
          <p:cNvSpPr txBox="1"/>
          <p:nvPr>
            <p:ph type="ctrTitle"/>
          </p:nvPr>
        </p:nvSpPr>
        <p:spPr>
          <a:xfrm>
            <a:off x="1524000" y="1122363"/>
            <a:ext cx="9144000" cy="2387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t/>
            </a:r>
            <a:endParaRPr/>
          </a:p>
        </p:txBody>
      </p:sp>
      <p:sp>
        <p:nvSpPr>
          <p:cNvPr id="186" name="Google Shape;186;g3f306541c7c_0_28"/>
          <p:cNvSpPr txBox="1"/>
          <p:nvPr>
            <p:ph idx="1" type="subTitle"/>
          </p:nvPr>
        </p:nvSpPr>
        <p:spPr>
          <a:xfrm>
            <a:off x="1524000" y="3602038"/>
            <a:ext cx="9144000" cy="1655700"/>
          </a:xfrm>
          <a:prstGeom prst="rect">
            <a:avLst/>
          </a:prstGeom>
        </p:spPr>
        <p:txBody>
          <a:bodyPr anchorCtr="0" anchor="t" bIns="45700" lIns="91425" spcFirstLastPara="1" rIns="91425" wrap="square" tIns="45700">
            <a:normAutofit/>
          </a:bodyPr>
          <a:lstStyle/>
          <a:p>
            <a:pPr indent="0" lvl="0" marL="0" rtl="0" algn="ctr">
              <a:spcBef>
                <a:spcPts val="1000"/>
              </a:spcBef>
              <a:spcAft>
                <a:spcPts val="0"/>
              </a:spcAft>
              <a:buNone/>
            </a:pPr>
            <a:r>
              <a:t/>
            </a:r>
            <a:endParaRPr/>
          </a:p>
        </p:txBody>
      </p:sp>
      <p:pic>
        <p:nvPicPr>
          <p:cNvPr id="187" name="Google Shape;187;g3f306541c7c_0_28"/>
          <p:cNvPicPr preferRelativeResize="0"/>
          <p:nvPr/>
        </p:nvPicPr>
        <p:blipFill>
          <a:blip r:embed="rId3">
            <a:alphaModFix/>
          </a:blip>
          <a:stretch>
            <a:fillRect/>
          </a:stretch>
        </p:blipFill>
        <p:spPr>
          <a:xfrm>
            <a:off x="1419575" y="1122375"/>
            <a:ext cx="9814325" cy="4475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f306541c7c_0_38"/>
          <p:cNvSpPr txBox="1"/>
          <p:nvPr>
            <p:ph type="ctrTitle"/>
          </p:nvPr>
        </p:nvSpPr>
        <p:spPr>
          <a:xfrm>
            <a:off x="1524000" y="1122363"/>
            <a:ext cx="9144000" cy="2387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t/>
            </a:r>
            <a:endParaRPr/>
          </a:p>
        </p:txBody>
      </p:sp>
      <p:sp>
        <p:nvSpPr>
          <p:cNvPr id="193" name="Google Shape;193;g3f306541c7c_0_38"/>
          <p:cNvSpPr txBox="1"/>
          <p:nvPr>
            <p:ph idx="1" type="subTitle"/>
          </p:nvPr>
        </p:nvSpPr>
        <p:spPr>
          <a:xfrm>
            <a:off x="1524000" y="3602038"/>
            <a:ext cx="9144000" cy="1655700"/>
          </a:xfrm>
          <a:prstGeom prst="rect">
            <a:avLst/>
          </a:prstGeom>
        </p:spPr>
        <p:txBody>
          <a:bodyPr anchorCtr="0" anchor="t" bIns="45700" lIns="91425" spcFirstLastPara="1" rIns="91425" wrap="square" tIns="45700">
            <a:normAutofit/>
          </a:bodyPr>
          <a:lstStyle/>
          <a:p>
            <a:pPr indent="0" lvl="0" marL="0" rtl="0" algn="ctr">
              <a:spcBef>
                <a:spcPts val="1000"/>
              </a:spcBef>
              <a:spcAft>
                <a:spcPts val="0"/>
              </a:spcAft>
              <a:buNone/>
            </a:pPr>
            <a:r>
              <a:t/>
            </a:r>
            <a:endParaRPr/>
          </a:p>
        </p:txBody>
      </p:sp>
      <p:pic>
        <p:nvPicPr>
          <p:cNvPr id="194" name="Google Shape;194;g3f306541c7c_0_38"/>
          <p:cNvPicPr preferRelativeResize="0"/>
          <p:nvPr/>
        </p:nvPicPr>
        <p:blipFill>
          <a:blip r:embed="rId3">
            <a:alphaModFix/>
          </a:blip>
          <a:stretch>
            <a:fillRect/>
          </a:stretch>
        </p:blipFill>
        <p:spPr>
          <a:xfrm>
            <a:off x="1730575" y="566225"/>
            <a:ext cx="9085550" cy="5725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f306541c7c_0_45"/>
          <p:cNvSpPr txBox="1"/>
          <p:nvPr>
            <p:ph type="ctrTitle"/>
          </p:nvPr>
        </p:nvSpPr>
        <p:spPr>
          <a:xfrm>
            <a:off x="1524000" y="1122363"/>
            <a:ext cx="9144000" cy="2387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t/>
            </a:r>
            <a:endParaRPr/>
          </a:p>
        </p:txBody>
      </p:sp>
      <p:sp>
        <p:nvSpPr>
          <p:cNvPr id="200" name="Google Shape;200;g3f306541c7c_0_45"/>
          <p:cNvSpPr txBox="1"/>
          <p:nvPr>
            <p:ph idx="1" type="subTitle"/>
          </p:nvPr>
        </p:nvSpPr>
        <p:spPr>
          <a:xfrm>
            <a:off x="1524000" y="3602038"/>
            <a:ext cx="9144000" cy="1655700"/>
          </a:xfrm>
          <a:prstGeom prst="rect">
            <a:avLst/>
          </a:prstGeom>
        </p:spPr>
        <p:txBody>
          <a:bodyPr anchorCtr="0" anchor="t" bIns="45700" lIns="91425" spcFirstLastPara="1" rIns="91425" wrap="square" tIns="45700">
            <a:normAutofit/>
          </a:bodyPr>
          <a:lstStyle/>
          <a:p>
            <a:pPr indent="0" lvl="0" marL="0" rtl="0" algn="ctr">
              <a:spcBef>
                <a:spcPts val="1000"/>
              </a:spcBef>
              <a:spcAft>
                <a:spcPts val="0"/>
              </a:spcAft>
              <a:buNone/>
            </a:pPr>
            <a:r>
              <a:t/>
            </a:r>
            <a:endParaRPr/>
          </a:p>
        </p:txBody>
      </p:sp>
      <p:pic>
        <p:nvPicPr>
          <p:cNvPr id="201" name="Google Shape;201;g3f306541c7c_0_45"/>
          <p:cNvPicPr preferRelativeResize="0"/>
          <p:nvPr/>
        </p:nvPicPr>
        <p:blipFill>
          <a:blip r:embed="rId3">
            <a:alphaModFix/>
          </a:blip>
          <a:stretch>
            <a:fillRect/>
          </a:stretch>
        </p:blipFill>
        <p:spPr>
          <a:xfrm>
            <a:off x="1779300" y="105950"/>
            <a:ext cx="8363826" cy="6479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EscuelaIT Duoc UC - Escuela de Informática y Telecomunicaciones Duoc UC - Duoc  UC | LinkedIn" id="206" name="Google Shape;206;p9"/>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07" name="Google Shape;207;p9"/>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rgbClr val="757070"/>
                </a:solidFill>
                <a:latin typeface="Calibri"/>
                <a:ea typeface="Calibri"/>
                <a:cs typeface="Calibri"/>
                <a:sym typeface="Calibri"/>
              </a:rPr>
              <a:t>PROYECTO “</a:t>
            </a:r>
            <a:r>
              <a:rPr lang="es-CL" sz="1600">
                <a:solidFill>
                  <a:srgbClr val="888888"/>
                </a:solidFill>
                <a:latin typeface="Georgia"/>
                <a:ea typeface="Georgia"/>
                <a:cs typeface="Georgia"/>
                <a:sym typeface="Georgia"/>
              </a:rPr>
              <a:t>Sistema de Gestión Residencial del Edificio</a:t>
            </a:r>
            <a:r>
              <a:rPr lang="es-CL" sz="1800">
                <a:solidFill>
                  <a:srgbClr val="757070"/>
                </a:solidFill>
                <a:latin typeface="Calibri"/>
                <a:ea typeface="Calibri"/>
                <a:cs typeface="Calibri"/>
                <a:sym typeface="Calibri"/>
              </a:rPr>
              <a:t>”</a:t>
            </a:r>
            <a:endParaRPr/>
          </a:p>
        </p:txBody>
      </p:sp>
      <p:sp>
        <p:nvSpPr>
          <p:cNvPr id="208" name="Google Shape;208;p9"/>
          <p:cNvSpPr txBox="1"/>
          <p:nvPr/>
        </p:nvSpPr>
        <p:spPr>
          <a:xfrm>
            <a:off x="0" y="77780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REQUISITOS FUNCIONALES Y NO FUNCIONALES</a:t>
            </a:r>
            <a:endParaRPr/>
          </a:p>
        </p:txBody>
      </p:sp>
      <p:cxnSp>
        <p:nvCxnSpPr>
          <p:cNvPr id="209" name="Google Shape;209;p9"/>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graphicFrame>
        <p:nvGraphicFramePr>
          <p:cNvPr id="210" name="Google Shape;210;p9"/>
          <p:cNvGraphicFramePr/>
          <p:nvPr/>
        </p:nvGraphicFramePr>
        <p:xfrm>
          <a:off x="418775" y="1594575"/>
          <a:ext cx="3000000" cy="3000000"/>
        </p:xfrm>
        <a:graphic>
          <a:graphicData uri="http://schemas.openxmlformats.org/drawingml/2006/table">
            <a:tbl>
              <a:tblPr>
                <a:noFill/>
                <a:tableStyleId>{D7C7E832-96B1-4A0C-BC91-212A0C87CAB7}</a:tableStyleId>
              </a:tblPr>
              <a:tblGrid>
                <a:gridCol w="1915800"/>
                <a:gridCol w="1915800"/>
                <a:gridCol w="1915800"/>
                <a:gridCol w="1915800"/>
                <a:gridCol w="1915800"/>
                <a:gridCol w="1915800"/>
              </a:tblGrid>
              <a:tr h="334575">
                <a:tc>
                  <a:txBody>
                    <a:bodyPr/>
                    <a:lstStyle/>
                    <a:p>
                      <a:pPr indent="0" lvl="0" marL="0" rtl="0" algn="l">
                        <a:lnSpc>
                          <a:spcPct val="115000"/>
                        </a:lnSpc>
                        <a:spcBef>
                          <a:spcPts val="0"/>
                        </a:spcBef>
                        <a:spcAft>
                          <a:spcPts val="0"/>
                        </a:spcAft>
                        <a:buNone/>
                      </a:pPr>
                      <a:r>
                        <a:rPr lang="es-CL" sz="1800">
                          <a:solidFill>
                            <a:schemeClr val="dk1"/>
                          </a:solidFill>
                          <a:latin typeface="Lexend"/>
                          <a:ea typeface="Lexend"/>
                          <a:cs typeface="Lexend"/>
                          <a:sym typeface="Lexend"/>
                        </a:rPr>
                        <a:t>ÁMBITO</a:t>
                      </a:r>
                      <a:endParaRPr sz="1800">
                        <a:solidFill>
                          <a:schemeClr val="dk1"/>
                        </a:solidFill>
                        <a:latin typeface="Lexend"/>
                        <a:ea typeface="Lexend"/>
                        <a:cs typeface="Lexend"/>
                        <a:sym typeface="Lexend"/>
                      </a:endParaRPr>
                    </a:p>
                  </a:txBody>
                  <a:tcPr marT="0" marB="0" marR="25400" marL="25400" anchor="ctr">
                    <a:lnL cap="flat" cmpd="sng" w="8650">
                      <a:solidFill>
                        <a:srgbClr val="284E3F"/>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900">
                          <a:solidFill>
                            <a:srgbClr val="434343"/>
                          </a:solidFill>
                          <a:latin typeface="Lexend"/>
                          <a:ea typeface="Lexend"/>
                          <a:cs typeface="Lexend"/>
                          <a:sym typeface="Lexend"/>
                        </a:rPr>
                        <a:t>R-N</a:t>
                      </a:r>
                      <a:r>
                        <a:rPr lang="es-CL" sz="1100">
                          <a:solidFill>
                            <a:srgbClr val="434343"/>
                          </a:solidFill>
                          <a:latin typeface="Roboto"/>
                          <a:ea typeface="Roboto"/>
                          <a:cs typeface="Roboto"/>
                          <a:sym typeface="Roboto"/>
                        </a:rPr>
                        <a:t>°</a:t>
                      </a:r>
                      <a:endParaRPr sz="1100">
                        <a:solidFill>
                          <a:srgbClr val="434343"/>
                        </a:solidFill>
                        <a:latin typeface="Roboto"/>
                        <a:ea typeface="Roboto"/>
                        <a:cs typeface="Roboto"/>
                        <a:sym typeface="Roboto"/>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s-CL" sz="1100">
                          <a:solidFill>
                            <a:schemeClr val="dk1"/>
                          </a:solidFill>
                          <a:latin typeface="Roboto"/>
                          <a:ea typeface="Roboto"/>
                          <a:cs typeface="Roboto"/>
                          <a:sym typeface="Roboto"/>
                        </a:rPr>
                        <a:t>Nombre del Requerimiento</a:t>
                      </a:r>
                      <a:endParaRPr b="1" sz="1100">
                        <a:solidFill>
                          <a:schemeClr val="dk1"/>
                        </a:solidFill>
                        <a:latin typeface="Roboto"/>
                        <a:ea typeface="Roboto"/>
                        <a:cs typeface="Roboto"/>
                        <a:sym typeface="Roboto"/>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a:solidFill>
                            <a:schemeClr val="dk1"/>
                          </a:solidFill>
                          <a:latin typeface="Roboto"/>
                          <a:ea typeface="Roboto"/>
                          <a:cs typeface="Roboto"/>
                          <a:sym typeface="Roboto"/>
                        </a:rPr>
                        <a:t>Tipo de requerimiento</a:t>
                      </a:r>
                      <a:endParaRPr>
                        <a:solidFill>
                          <a:schemeClr val="dk1"/>
                        </a:solidFill>
                        <a:latin typeface="Roboto"/>
                        <a:ea typeface="Roboto"/>
                        <a:cs typeface="Roboto"/>
                        <a:sym typeface="Roboto"/>
                      </a:endParaRPr>
                    </a:p>
                  </a:txBody>
                  <a:tcPr marT="0" marB="0" marR="25400" marL="254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a:solidFill>
                            <a:schemeClr val="dk1"/>
                          </a:solidFill>
                          <a:latin typeface="Roboto"/>
                          <a:ea typeface="Roboto"/>
                          <a:cs typeface="Roboto"/>
                          <a:sym typeface="Roboto"/>
                        </a:rPr>
                        <a:t>Actores y Roles</a:t>
                      </a:r>
                      <a:endParaRPr>
                        <a:solidFill>
                          <a:schemeClr val="dk1"/>
                        </a:solidFill>
                        <a:latin typeface="Roboto"/>
                        <a:ea typeface="Roboto"/>
                        <a:cs typeface="Roboto"/>
                        <a:sym typeface="Roboto"/>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300">
                          <a:solidFill>
                            <a:schemeClr val="dk1"/>
                          </a:solidFill>
                          <a:latin typeface="Roboto"/>
                          <a:ea typeface="Roboto"/>
                          <a:cs typeface="Roboto"/>
                          <a:sym typeface="Roboto"/>
                        </a:rPr>
                        <a:t>Descripción</a:t>
                      </a:r>
                      <a:endParaRPr sz="1300">
                        <a:solidFill>
                          <a:schemeClr val="dk1"/>
                        </a:solidFill>
                        <a:latin typeface="Roboto"/>
                        <a:ea typeface="Roboto"/>
                        <a:cs typeface="Roboto"/>
                        <a:sym typeface="Roboto"/>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r>
              <a:tr h="381000">
                <a:tc>
                  <a:txBody>
                    <a:bodyPr/>
                    <a:lstStyle/>
                    <a:p>
                      <a:pPr indent="0" lvl="0" marL="0" rtl="0" algn="l">
                        <a:lnSpc>
                          <a:spcPct val="115000"/>
                        </a:lnSpc>
                        <a:spcBef>
                          <a:spcPts val="0"/>
                        </a:spcBef>
                        <a:spcAft>
                          <a:spcPts val="0"/>
                        </a:spcAft>
                        <a:buNone/>
                      </a:pPr>
                      <a:r>
                        <a:rPr lang="es-CL" sz="1100">
                          <a:solidFill>
                            <a:schemeClr val="accent1"/>
                          </a:solidFill>
                          <a:latin typeface="Roboto"/>
                          <a:ea typeface="Roboto"/>
                          <a:cs typeface="Roboto"/>
                          <a:sym typeface="Roboto"/>
                        </a:rPr>
                        <a:t>Gestión</a:t>
                      </a:r>
                      <a:r>
                        <a:rPr lang="es-CL" sz="1100">
                          <a:solidFill>
                            <a:schemeClr val="accent1"/>
                          </a:solidFill>
                          <a:latin typeface="Roboto"/>
                          <a:ea typeface="Roboto"/>
                          <a:cs typeface="Roboto"/>
                          <a:sym typeface="Roboto"/>
                        </a:rPr>
                        <a:t> de Residentes</a:t>
                      </a:r>
                      <a:endParaRPr sz="1100">
                        <a:solidFill>
                          <a:schemeClr val="accent1"/>
                        </a:solidFill>
                        <a:latin typeface="Calibri"/>
                        <a:ea typeface="Calibri"/>
                        <a:cs typeface="Calibri"/>
                        <a:sym typeface="Calibri"/>
                      </a:endParaRPr>
                    </a:p>
                  </a:txBody>
                  <a:tcPr marT="0" marB="0" marR="25400" marL="25400" anchor="ctr">
                    <a:lnL cap="flat" cmpd="sng" w="8650">
                      <a:solidFill>
                        <a:srgbClr val="284E3F"/>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s-CL" sz="1100">
                          <a:solidFill>
                            <a:srgbClr val="434343"/>
                          </a:solidFill>
                          <a:latin typeface="Roboto"/>
                          <a:ea typeface="Roboto"/>
                          <a:cs typeface="Roboto"/>
                          <a:sym typeface="Roboto"/>
                        </a:rPr>
                        <a:t>1</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Gestión</a:t>
                      </a:r>
                      <a:r>
                        <a:rPr lang="es-CL" sz="1100">
                          <a:solidFill>
                            <a:srgbClr val="434343"/>
                          </a:solidFill>
                          <a:latin typeface="Roboto"/>
                          <a:ea typeface="Roboto"/>
                          <a:cs typeface="Roboto"/>
                          <a:sym typeface="Roboto"/>
                        </a:rPr>
                        <a:t> de los Residentes</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chemeClr val="dk1"/>
                          </a:solidFill>
                          <a:latin typeface="Roboto"/>
                          <a:ea typeface="Roboto"/>
                          <a:cs typeface="Roboto"/>
                          <a:sym typeface="Roboto"/>
                        </a:rPr>
                        <a:t>Funcional</a:t>
                      </a:r>
                      <a:endParaRPr sz="1100">
                        <a:solidFill>
                          <a:schemeClr val="dk1"/>
                        </a:solidFill>
                        <a:latin typeface="Calibri"/>
                        <a:ea typeface="Calibri"/>
                        <a:cs typeface="Calibri"/>
                        <a:sym typeface="Calibri"/>
                      </a:endParaRPr>
                    </a:p>
                  </a:txBody>
                  <a:tcPr marT="0" marB="0" marR="25400" marL="254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chemeClr val="accent2"/>
                          </a:solidFill>
                          <a:latin typeface="Roboto"/>
                          <a:ea typeface="Roboto"/>
                          <a:cs typeface="Roboto"/>
                          <a:sym typeface="Roboto"/>
                        </a:rPr>
                        <a:t>Administrador</a:t>
                      </a:r>
                      <a:endParaRPr sz="1100">
                        <a:solidFill>
                          <a:schemeClr val="accent2"/>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Se </a:t>
                      </a:r>
                      <a:r>
                        <a:rPr lang="es-CL" sz="1100">
                          <a:solidFill>
                            <a:srgbClr val="434343"/>
                          </a:solidFill>
                          <a:latin typeface="Roboto"/>
                          <a:ea typeface="Roboto"/>
                          <a:cs typeface="Roboto"/>
                          <a:sym typeface="Roboto"/>
                        </a:rPr>
                        <a:t>podrá</a:t>
                      </a:r>
                      <a:r>
                        <a:rPr lang="es-CL" sz="1100">
                          <a:solidFill>
                            <a:srgbClr val="434343"/>
                          </a:solidFill>
                          <a:latin typeface="Roboto"/>
                          <a:ea typeface="Roboto"/>
                          <a:cs typeface="Roboto"/>
                          <a:sym typeface="Roboto"/>
                        </a:rPr>
                        <a:t> gestionar las cuentas de residentes</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r>
              <a:tr h="381000">
                <a:tc>
                  <a:txBody>
                    <a:bodyPr/>
                    <a:lstStyle/>
                    <a:p>
                      <a:pPr indent="0" lvl="0" marL="0" rtl="0" algn="l">
                        <a:lnSpc>
                          <a:spcPct val="115000"/>
                        </a:lnSpc>
                        <a:spcBef>
                          <a:spcPts val="0"/>
                        </a:spcBef>
                        <a:spcAft>
                          <a:spcPts val="0"/>
                        </a:spcAft>
                        <a:buNone/>
                      </a:pPr>
                      <a:r>
                        <a:rPr lang="es-CL" sz="1100">
                          <a:solidFill>
                            <a:schemeClr val="accent1"/>
                          </a:solidFill>
                          <a:latin typeface="Roboto"/>
                          <a:ea typeface="Roboto"/>
                          <a:cs typeface="Roboto"/>
                          <a:sym typeface="Roboto"/>
                        </a:rPr>
                        <a:t>Gestión</a:t>
                      </a:r>
                      <a:r>
                        <a:rPr lang="es-CL" sz="1100">
                          <a:solidFill>
                            <a:schemeClr val="accent1"/>
                          </a:solidFill>
                          <a:latin typeface="Roboto"/>
                          <a:ea typeface="Roboto"/>
                          <a:cs typeface="Roboto"/>
                          <a:sym typeface="Roboto"/>
                        </a:rPr>
                        <a:t> de Residentes</a:t>
                      </a:r>
                      <a:endParaRPr sz="1100">
                        <a:solidFill>
                          <a:schemeClr val="accent1"/>
                        </a:solidFill>
                        <a:latin typeface="Calibri"/>
                        <a:ea typeface="Calibri"/>
                        <a:cs typeface="Calibri"/>
                        <a:sym typeface="Calibri"/>
                      </a:endParaRPr>
                    </a:p>
                  </a:txBody>
                  <a:tcPr marT="0" marB="0" marR="25400" marL="25400" anchor="ctr">
                    <a:lnL cap="flat" cmpd="sng" w="8650">
                      <a:solidFill>
                        <a:srgbClr val="284E3F"/>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s-CL" sz="1100">
                          <a:solidFill>
                            <a:srgbClr val="434343"/>
                          </a:solidFill>
                          <a:latin typeface="Roboto"/>
                          <a:ea typeface="Roboto"/>
                          <a:cs typeface="Roboto"/>
                          <a:sym typeface="Roboto"/>
                        </a:rPr>
                        <a:t>10</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Gestión</a:t>
                      </a:r>
                      <a:r>
                        <a:rPr lang="es-CL" sz="1100">
                          <a:solidFill>
                            <a:srgbClr val="434343"/>
                          </a:solidFill>
                          <a:latin typeface="Roboto"/>
                          <a:ea typeface="Roboto"/>
                          <a:cs typeface="Roboto"/>
                          <a:sym typeface="Roboto"/>
                        </a:rPr>
                        <a:t> de morosidad</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chemeClr val="dk1"/>
                          </a:solidFill>
                          <a:latin typeface="Roboto"/>
                          <a:ea typeface="Roboto"/>
                          <a:cs typeface="Roboto"/>
                          <a:sym typeface="Roboto"/>
                        </a:rPr>
                        <a:t>Funcional</a:t>
                      </a:r>
                      <a:endParaRPr sz="1100">
                        <a:solidFill>
                          <a:schemeClr val="dk1"/>
                        </a:solidFill>
                        <a:latin typeface="Calibri"/>
                        <a:ea typeface="Calibri"/>
                        <a:cs typeface="Calibri"/>
                        <a:sym typeface="Calibri"/>
                      </a:endParaRPr>
                    </a:p>
                  </a:txBody>
                  <a:tcPr marT="0" marB="0" marR="25400" marL="254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chemeClr val="accent2"/>
                          </a:solidFill>
                          <a:latin typeface="Roboto"/>
                          <a:ea typeface="Roboto"/>
                          <a:cs typeface="Roboto"/>
                          <a:sym typeface="Roboto"/>
                        </a:rPr>
                        <a:t>Administrador</a:t>
                      </a:r>
                      <a:endParaRPr sz="1100">
                        <a:solidFill>
                          <a:schemeClr val="accent2"/>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Se </a:t>
                      </a:r>
                      <a:r>
                        <a:rPr lang="es-CL" sz="1100">
                          <a:solidFill>
                            <a:srgbClr val="434343"/>
                          </a:solidFill>
                          <a:latin typeface="Roboto"/>
                          <a:ea typeface="Roboto"/>
                          <a:cs typeface="Roboto"/>
                          <a:sym typeface="Roboto"/>
                        </a:rPr>
                        <a:t>podrá</a:t>
                      </a:r>
                      <a:r>
                        <a:rPr lang="es-CL" sz="1100">
                          <a:solidFill>
                            <a:srgbClr val="434343"/>
                          </a:solidFill>
                          <a:latin typeface="Roboto"/>
                          <a:ea typeface="Roboto"/>
                          <a:cs typeface="Roboto"/>
                          <a:sym typeface="Roboto"/>
                        </a:rPr>
                        <a:t> saber </a:t>
                      </a:r>
                      <a:r>
                        <a:rPr lang="es-CL" sz="1100">
                          <a:solidFill>
                            <a:srgbClr val="434343"/>
                          </a:solidFill>
                          <a:latin typeface="Roboto"/>
                          <a:ea typeface="Roboto"/>
                          <a:cs typeface="Roboto"/>
                          <a:sym typeface="Roboto"/>
                        </a:rPr>
                        <a:t>qué</a:t>
                      </a:r>
                      <a:r>
                        <a:rPr lang="es-CL" sz="1100">
                          <a:solidFill>
                            <a:srgbClr val="434343"/>
                          </a:solidFill>
                          <a:latin typeface="Roboto"/>
                          <a:ea typeface="Roboto"/>
                          <a:cs typeface="Roboto"/>
                          <a:sym typeface="Roboto"/>
                        </a:rPr>
                        <a:t> personas deben dinero al edificio</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r>
              <a:tr h="381000">
                <a:tc>
                  <a:txBody>
                    <a:bodyPr/>
                    <a:lstStyle/>
                    <a:p>
                      <a:pPr indent="0" lvl="0" marL="0" rtl="0" algn="l">
                        <a:lnSpc>
                          <a:spcPct val="115000"/>
                        </a:lnSpc>
                        <a:spcBef>
                          <a:spcPts val="0"/>
                        </a:spcBef>
                        <a:spcAft>
                          <a:spcPts val="0"/>
                        </a:spcAft>
                        <a:buNone/>
                      </a:pPr>
                      <a:r>
                        <a:rPr lang="es-CL" sz="1100">
                          <a:solidFill>
                            <a:srgbClr val="6AA84F"/>
                          </a:solidFill>
                          <a:latin typeface="Roboto"/>
                          <a:ea typeface="Roboto"/>
                          <a:cs typeface="Roboto"/>
                          <a:sym typeface="Roboto"/>
                        </a:rPr>
                        <a:t>Generación</a:t>
                      </a:r>
                      <a:r>
                        <a:rPr lang="es-CL" sz="1100">
                          <a:solidFill>
                            <a:srgbClr val="6AA84F"/>
                          </a:solidFill>
                          <a:latin typeface="Roboto"/>
                          <a:ea typeface="Roboto"/>
                          <a:cs typeface="Roboto"/>
                          <a:sym typeface="Roboto"/>
                        </a:rPr>
                        <a:t> de Consultas e Informes</a:t>
                      </a:r>
                      <a:endParaRPr sz="1100">
                        <a:solidFill>
                          <a:srgbClr val="6AA84F"/>
                        </a:solidFill>
                        <a:latin typeface="Calibri"/>
                        <a:ea typeface="Calibri"/>
                        <a:cs typeface="Calibri"/>
                        <a:sym typeface="Calibri"/>
                      </a:endParaRPr>
                    </a:p>
                  </a:txBody>
                  <a:tcPr marT="0" marB="0" marR="25400" marL="25400" anchor="ctr">
                    <a:lnL cap="flat" cmpd="sng" w="8650">
                      <a:solidFill>
                        <a:srgbClr val="284E3F"/>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3F3F3"/>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s-CL" sz="1100">
                          <a:solidFill>
                            <a:srgbClr val="434343"/>
                          </a:solidFill>
                          <a:latin typeface="Roboto"/>
                          <a:ea typeface="Roboto"/>
                          <a:cs typeface="Roboto"/>
                          <a:sym typeface="Roboto"/>
                        </a:rPr>
                        <a:t>18</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Consulta de </a:t>
                      </a:r>
                      <a:r>
                        <a:rPr lang="es-CL" sz="1100">
                          <a:solidFill>
                            <a:srgbClr val="434343"/>
                          </a:solidFill>
                          <a:latin typeface="Roboto"/>
                          <a:ea typeface="Roboto"/>
                          <a:cs typeface="Roboto"/>
                          <a:sym typeface="Roboto"/>
                        </a:rPr>
                        <a:t>información</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EFEFE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chemeClr val="dk1"/>
                          </a:solidFill>
                          <a:latin typeface="Roboto"/>
                          <a:ea typeface="Roboto"/>
                          <a:cs typeface="Roboto"/>
                          <a:sym typeface="Roboto"/>
                        </a:rPr>
                        <a:t>Funcional</a:t>
                      </a:r>
                      <a:endParaRPr sz="1100">
                        <a:solidFill>
                          <a:schemeClr val="dk1"/>
                        </a:solidFill>
                        <a:latin typeface="Calibri"/>
                        <a:ea typeface="Calibri"/>
                        <a:cs typeface="Calibri"/>
                        <a:sym typeface="Calibri"/>
                      </a:endParaRPr>
                    </a:p>
                  </a:txBody>
                  <a:tcPr marT="0" marB="0" marR="25400" marL="254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3F3F3"/>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Residente,</a:t>
                      </a:r>
                      <a:r>
                        <a:rPr lang="es-CL" sz="1100">
                          <a:solidFill>
                            <a:schemeClr val="accent2"/>
                          </a:solidFill>
                          <a:latin typeface="Roboto"/>
                          <a:ea typeface="Roboto"/>
                          <a:cs typeface="Roboto"/>
                          <a:sym typeface="Roboto"/>
                        </a:rPr>
                        <a:t> Administrador</a:t>
                      </a:r>
                      <a:endParaRPr sz="1100">
                        <a:solidFill>
                          <a:schemeClr val="accent2"/>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Se </a:t>
                      </a:r>
                      <a:r>
                        <a:rPr lang="es-CL" sz="1100">
                          <a:solidFill>
                            <a:srgbClr val="434343"/>
                          </a:solidFill>
                          <a:latin typeface="Roboto"/>
                          <a:ea typeface="Roboto"/>
                          <a:cs typeface="Roboto"/>
                          <a:sym typeface="Roboto"/>
                        </a:rPr>
                        <a:t>podrá</a:t>
                      </a:r>
                      <a:r>
                        <a:rPr lang="es-CL" sz="1100">
                          <a:solidFill>
                            <a:srgbClr val="434343"/>
                          </a:solidFill>
                          <a:latin typeface="Roboto"/>
                          <a:ea typeface="Roboto"/>
                          <a:cs typeface="Roboto"/>
                          <a:sym typeface="Roboto"/>
                        </a:rPr>
                        <a:t> visualizar ver el estado de la cuenta</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r>
              <a:tr h="381000">
                <a:tc>
                  <a:txBody>
                    <a:bodyPr/>
                    <a:lstStyle/>
                    <a:p>
                      <a:pPr indent="0" lvl="0" marL="0" rtl="0" algn="l">
                        <a:lnSpc>
                          <a:spcPct val="115000"/>
                        </a:lnSpc>
                        <a:spcBef>
                          <a:spcPts val="0"/>
                        </a:spcBef>
                        <a:spcAft>
                          <a:spcPts val="0"/>
                        </a:spcAft>
                        <a:buClr>
                          <a:schemeClr val="dk1"/>
                        </a:buClr>
                        <a:buSzPts val="1100"/>
                        <a:buFont typeface="Arial"/>
                        <a:buNone/>
                      </a:pPr>
                      <a:r>
                        <a:rPr lang="es-CL" sz="1200">
                          <a:solidFill>
                            <a:srgbClr val="FF9900"/>
                          </a:solidFill>
                          <a:latin typeface="Roboto"/>
                          <a:ea typeface="Roboto"/>
                          <a:cs typeface="Roboto"/>
                          <a:sym typeface="Roboto"/>
                        </a:rPr>
                        <a:t>Gestion de Pagos</a:t>
                      </a:r>
                      <a:endParaRPr sz="1500">
                        <a:solidFill>
                          <a:srgbClr val="FF9900"/>
                        </a:solidFill>
                      </a:endParaRPr>
                    </a:p>
                  </a:txBody>
                  <a:tcPr marT="91425" marB="91425" marR="91425" marL="91425">
                    <a:lnL cap="flat" cmpd="sng" w="9525">
                      <a:solidFill>
                        <a:srgbClr val="F3F3F3"/>
                      </a:solidFill>
                      <a:prstDash val="solid"/>
                      <a:round/>
                      <a:headEnd len="sm" w="sm" type="none"/>
                      <a:tailEnd len="sm" w="sm" type="none"/>
                    </a:lnL>
                    <a:lnR cap="flat" cmpd="sng" w="8650">
                      <a:solidFill>
                        <a:srgbClr val="F3F3F3"/>
                      </a:solidFill>
                      <a:prstDash val="solid"/>
                      <a:round/>
                      <a:headEnd len="sm" w="sm" type="none"/>
                      <a:tailEnd len="sm" w="sm" type="none"/>
                    </a:lnR>
                    <a:lnT cap="flat" cmpd="sng" w="8650">
                      <a:solidFill>
                        <a:srgbClr val="F3F3F3"/>
                      </a:solidFill>
                      <a:prstDash val="solid"/>
                      <a:round/>
                      <a:headEnd len="sm" w="sm" type="none"/>
                      <a:tailEnd len="sm" w="sm" type="none"/>
                    </a:lnT>
                    <a:lnB cap="flat" cmpd="sng" w="8650">
                      <a:solidFill>
                        <a:srgbClr val="F3F3F3"/>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s-CL" sz="1100">
                          <a:solidFill>
                            <a:srgbClr val="434343"/>
                          </a:solidFill>
                          <a:latin typeface="Roboto"/>
                          <a:ea typeface="Roboto"/>
                          <a:cs typeface="Roboto"/>
                          <a:sym typeface="Roboto"/>
                        </a:rPr>
                        <a:t>7</a:t>
                      </a:r>
                      <a:endParaRPr sz="1100">
                        <a:latin typeface="Calibri"/>
                        <a:ea typeface="Calibri"/>
                        <a:cs typeface="Calibri"/>
                        <a:sym typeface="Calibri"/>
                      </a:endParaRPr>
                    </a:p>
                  </a:txBody>
                  <a:tcPr marT="0" marB="0" marR="76200" marL="76200" anchor="ctr">
                    <a:lnL cap="flat" cmpd="sng" w="8650">
                      <a:solidFill>
                        <a:srgbClr val="F3F3F3"/>
                      </a:solidFill>
                      <a:prstDash val="solid"/>
                      <a:round/>
                      <a:headEnd len="sm" w="sm" type="none"/>
                      <a:tailEnd len="sm" w="sm" type="none"/>
                    </a:lnL>
                    <a:lnR cap="flat" cmpd="sng" w="8650">
                      <a:solidFill>
                        <a:srgbClr val="EFEFEF"/>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EFEFE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Gestion de gastos comunes y pagos</a:t>
                      </a:r>
                      <a:endParaRPr sz="1100">
                        <a:latin typeface="Calibri"/>
                        <a:ea typeface="Calibri"/>
                        <a:cs typeface="Calibri"/>
                        <a:sym typeface="Calibri"/>
                      </a:endParaRPr>
                    </a:p>
                  </a:txBody>
                  <a:tcPr marT="0" marB="0" marR="76200" marL="76200" anchor="ctr">
                    <a:lnL cap="flat" cmpd="sng" w="8650">
                      <a:solidFill>
                        <a:srgbClr val="EFEFEF"/>
                      </a:solidFill>
                      <a:prstDash val="solid"/>
                      <a:round/>
                      <a:headEnd len="sm" w="sm" type="none"/>
                      <a:tailEnd len="sm" w="sm" type="none"/>
                    </a:lnL>
                    <a:lnR cap="flat" cmpd="sng" w="8650">
                      <a:solidFill>
                        <a:srgbClr val="F3F3F3"/>
                      </a:solidFill>
                      <a:prstDash val="solid"/>
                      <a:round/>
                      <a:headEnd len="sm" w="sm" type="none"/>
                      <a:tailEnd len="sm" w="sm" type="none"/>
                    </a:lnR>
                    <a:lnT cap="flat" cmpd="sng" w="8650">
                      <a:solidFill>
                        <a:srgbClr val="EFEFEF"/>
                      </a:solidFill>
                      <a:prstDash val="solid"/>
                      <a:round/>
                      <a:headEnd len="sm" w="sm" type="none"/>
                      <a:tailEnd len="sm" w="sm" type="none"/>
                    </a:lnT>
                    <a:lnB cap="flat" cmpd="sng" w="8650">
                      <a:solidFill>
                        <a:srgbClr val="EFEFE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Clr>
                          <a:schemeClr val="dk1"/>
                        </a:buClr>
                        <a:buSzPts val="1100"/>
                        <a:buFont typeface="Arial"/>
                        <a:buNone/>
                      </a:pPr>
                      <a:r>
                        <a:rPr lang="es-CL" sz="1100">
                          <a:solidFill>
                            <a:schemeClr val="dk1"/>
                          </a:solidFill>
                          <a:latin typeface="Roboto"/>
                          <a:ea typeface="Roboto"/>
                          <a:cs typeface="Roboto"/>
                          <a:sym typeface="Roboto"/>
                        </a:rPr>
                        <a:t>Funcional</a:t>
                      </a:r>
                      <a:endParaRPr/>
                    </a:p>
                  </a:txBody>
                  <a:tcPr marT="91425" marB="91425" marR="91425" marL="91425">
                    <a:lnL cap="flat" cmpd="sng" w="8650">
                      <a:solidFill>
                        <a:srgbClr val="F3F3F3"/>
                      </a:solidFill>
                      <a:prstDash val="solid"/>
                      <a:round/>
                      <a:headEnd len="sm" w="sm" type="none"/>
                      <a:tailEnd len="sm" w="sm" type="none"/>
                    </a:lnL>
                    <a:lnR cap="flat" cmpd="sng" w="9525">
                      <a:solidFill>
                        <a:srgbClr val="F3F3F3"/>
                      </a:solidFill>
                      <a:prstDash val="solid"/>
                      <a:round/>
                      <a:headEnd len="sm" w="sm" type="none"/>
                      <a:tailEnd len="sm" w="sm" type="none"/>
                    </a:lnR>
                    <a:lnT cap="flat" cmpd="sng" w="8650">
                      <a:solidFill>
                        <a:srgbClr val="F3F3F3"/>
                      </a:solidFill>
                      <a:prstDash val="solid"/>
                      <a:round/>
                      <a:headEnd len="sm" w="sm" type="none"/>
                      <a:tailEnd len="sm" w="sm" type="none"/>
                    </a:lnT>
                    <a:lnB cap="flat" cmpd="sng" w="8650">
                      <a:solidFill>
                        <a:srgbClr val="F3F3F3"/>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Clr>
                          <a:schemeClr val="dk1"/>
                        </a:buClr>
                        <a:buSzPts val="1100"/>
                        <a:buFont typeface="Arial"/>
                        <a:buNone/>
                      </a:pPr>
                      <a:r>
                        <a:rPr lang="es-CL" sz="1100">
                          <a:solidFill>
                            <a:schemeClr val="accent2"/>
                          </a:solidFill>
                          <a:latin typeface="Roboto"/>
                          <a:ea typeface="Roboto"/>
                          <a:cs typeface="Roboto"/>
                          <a:sym typeface="Roboto"/>
                        </a:rPr>
                        <a:t>Administrador</a:t>
                      </a:r>
                      <a:endParaRPr/>
                    </a:p>
                  </a:txBody>
                  <a:tcPr marT="91425" marB="91425" marR="91425" marL="91425">
                    <a:lnL cap="flat" cmpd="sng" w="9525">
                      <a:solidFill>
                        <a:srgbClr val="F3F3F3"/>
                      </a:solidFill>
                      <a:prstDash val="solid"/>
                      <a:round/>
                      <a:headEnd len="sm" w="sm" type="none"/>
                      <a:tailEnd len="sm" w="sm" type="none"/>
                    </a:lnL>
                    <a:lnT cap="flat" cmpd="sng" w="8650">
                      <a:solidFill>
                        <a:srgbClr val="F6F8F9"/>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Clr>
                          <a:schemeClr val="dk1"/>
                        </a:buClr>
                        <a:buSzPts val="1100"/>
                        <a:buFont typeface="Arial"/>
                        <a:buNone/>
                      </a:pPr>
                      <a:r>
                        <a:rPr lang="es-CL" sz="1100">
                          <a:solidFill>
                            <a:srgbClr val="434343"/>
                          </a:solidFill>
                          <a:latin typeface="Roboto"/>
                          <a:ea typeface="Roboto"/>
                          <a:cs typeface="Roboto"/>
                          <a:sym typeface="Roboto"/>
                        </a:rPr>
                        <a:t>Se podra gestionar que gastos comunes se deben paga</a:t>
                      </a:r>
                      <a:endParaRPr/>
                    </a:p>
                  </a:txBody>
                  <a:tcPr marT="91425" marB="91425" marR="91425" marL="91425">
                    <a:lnT cap="flat" cmpd="sng" w="8650">
                      <a:solidFill>
                        <a:srgbClr val="F6F8F9"/>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r>
              <a:tr h="381000">
                <a:tc>
                  <a:txBody>
                    <a:bodyPr/>
                    <a:lstStyle/>
                    <a:p>
                      <a:pPr indent="0" lvl="0" marL="0" rtl="0" algn="l">
                        <a:lnSpc>
                          <a:spcPct val="115000"/>
                        </a:lnSpc>
                        <a:spcBef>
                          <a:spcPts val="0"/>
                        </a:spcBef>
                        <a:spcAft>
                          <a:spcPts val="0"/>
                        </a:spcAft>
                        <a:buNone/>
                      </a:pPr>
                      <a:r>
                        <a:rPr lang="es-CL" sz="1100">
                          <a:solidFill>
                            <a:srgbClr val="9900FF"/>
                          </a:solidFill>
                          <a:latin typeface="Roboto"/>
                          <a:ea typeface="Roboto"/>
                          <a:cs typeface="Roboto"/>
                          <a:sym typeface="Roboto"/>
                        </a:rPr>
                        <a:t>Gestión</a:t>
                      </a:r>
                      <a:r>
                        <a:rPr lang="es-CL" sz="1100">
                          <a:solidFill>
                            <a:srgbClr val="9900FF"/>
                          </a:solidFill>
                          <a:latin typeface="Roboto"/>
                          <a:ea typeface="Roboto"/>
                          <a:cs typeface="Roboto"/>
                          <a:sym typeface="Roboto"/>
                        </a:rPr>
                        <a:t> de Solicitudes y Quejas</a:t>
                      </a:r>
                      <a:endParaRPr sz="1100">
                        <a:solidFill>
                          <a:srgbClr val="9900FF"/>
                        </a:solidFill>
                        <a:latin typeface="Calibri"/>
                        <a:ea typeface="Calibri"/>
                        <a:cs typeface="Calibri"/>
                        <a:sym typeface="Calibri"/>
                      </a:endParaRPr>
                    </a:p>
                  </a:txBody>
                  <a:tcPr marT="0" marB="0" marR="25400" marL="25400" anchor="ctr">
                    <a:lnL cap="flat" cmpd="sng" w="8650">
                      <a:solidFill>
                        <a:srgbClr val="284E3F"/>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F3F3F3"/>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s-CL" sz="1100">
                          <a:solidFill>
                            <a:srgbClr val="434343"/>
                          </a:solidFill>
                          <a:latin typeface="Roboto"/>
                          <a:ea typeface="Roboto"/>
                          <a:cs typeface="Roboto"/>
                          <a:sym typeface="Roboto"/>
                        </a:rPr>
                        <a:t>16</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EFEFEF"/>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Gestión</a:t>
                      </a:r>
                      <a:r>
                        <a:rPr lang="es-CL" sz="1100">
                          <a:solidFill>
                            <a:srgbClr val="434343"/>
                          </a:solidFill>
                          <a:latin typeface="Roboto"/>
                          <a:ea typeface="Roboto"/>
                          <a:cs typeface="Roboto"/>
                          <a:sym typeface="Roboto"/>
                        </a:rPr>
                        <a:t> de solicitudes de quejas</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EFEFEF"/>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chemeClr val="dk1"/>
                          </a:solidFill>
                          <a:latin typeface="Roboto"/>
                          <a:ea typeface="Roboto"/>
                          <a:cs typeface="Roboto"/>
                          <a:sym typeface="Roboto"/>
                        </a:rPr>
                        <a:t>Funcional</a:t>
                      </a:r>
                      <a:endParaRPr sz="1100">
                        <a:solidFill>
                          <a:schemeClr val="dk1"/>
                        </a:solidFill>
                        <a:latin typeface="Calibri"/>
                        <a:ea typeface="Calibri"/>
                        <a:cs typeface="Calibri"/>
                        <a:sym typeface="Calibri"/>
                      </a:endParaRPr>
                    </a:p>
                  </a:txBody>
                  <a:tcPr marT="0" marB="0" marR="25400" marL="254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F3F3F3"/>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Residente, </a:t>
                      </a:r>
                      <a:r>
                        <a:rPr lang="es-CL" sz="1100">
                          <a:solidFill>
                            <a:srgbClr val="B10202"/>
                          </a:solidFill>
                          <a:latin typeface="Roboto"/>
                          <a:ea typeface="Roboto"/>
                          <a:cs typeface="Roboto"/>
                          <a:sym typeface="Roboto"/>
                        </a:rPr>
                        <a:t>Personal del edificio</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Se </a:t>
                      </a:r>
                      <a:r>
                        <a:rPr lang="es-CL" sz="1100">
                          <a:solidFill>
                            <a:srgbClr val="434343"/>
                          </a:solidFill>
                          <a:latin typeface="Roboto"/>
                          <a:ea typeface="Roboto"/>
                          <a:cs typeface="Roboto"/>
                          <a:sym typeface="Roboto"/>
                        </a:rPr>
                        <a:t>podrá</a:t>
                      </a:r>
                      <a:r>
                        <a:rPr lang="es-CL" sz="1100">
                          <a:solidFill>
                            <a:srgbClr val="434343"/>
                          </a:solidFill>
                          <a:latin typeface="Roboto"/>
                          <a:ea typeface="Roboto"/>
                          <a:cs typeface="Roboto"/>
                          <a:sym typeface="Roboto"/>
                        </a:rPr>
                        <a:t> gestionar que quejas son validas o no</a:t>
                      </a:r>
                      <a:endParaRPr sz="1100">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r>
              <a:tr h="381000">
                <a:tc>
                  <a:txBody>
                    <a:bodyPr/>
                    <a:lstStyle/>
                    <a:p>
                      <a:pPr indent="0" lvl="0" marL="0" rtl="0" algn="l">
                        <a:lnSpc>
                          <a:spcPct val="115000"/>
                        </a:lnSpc>
                        <a:spcBef>
                          <a:spcPts val="0"/>
                        </a:spcBef>
                        <a:spcAft>
                          <a:spcPts val="0"/>
                        </a:spcAft>
                        <a:buClr>
                          <a:schemeClr val="dk1"/>
                        </a:buClr>
                        <a:buSzPts val="1100"/>
                        <a:buFont typeface="Arial"/>
                        <a:buNone/>
                      </a:pPr>
                      <a:r>
                        <a:rPr lang="es-CL" sz="1100">
                          <a:solidFill>
                            <a:srgbClr val="FF9900"/>
                          </a:solidFill>
                          <a:latin typeface="Roboto"/>
                          <a:ea typeface="Roboto"/>
                          <a:cs typeface="Roboto"/>
                          <a:sym typeface="Roboto"/>
                        </a:rPr>
                        <a:t>Gestion de Pagos</a:t>
                      </a:r>
                      <a:endParaRPr sz="1100">
                        <a:solidFill>
                          <a:srgbClr val="FF9900"/>
                        </a:solidFill>
                        <a:latin typeface="Roboto"/>
                        <a:ea typeface="Roboto"/>
                        <a:cs typeface="Roboto"/>
                        <a:sym typeface="Roboto"/>
                      </a:endParaRPr>
                    </a:p>
                  </a:txBody>
                  <a:tcPr marT="0" marB="0" marR="25400" marL="25400" anchor="ctr">
                    <a:lnL cap="flat" cmpd="sng" w="8650">
                      <a:solidFill>
                        <a:srgbClr val="284E3F"/>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s-CL" sz="1100">
                          <a:solidFill>
                            <a:srgbClr val="434343"/>
                          </a:solidFill>
                          <a:latin typeface="Roboto"/>
                          <a:ea typeface="Roboto"/>
                          <a:cs typeface="Roboto"/>
                          <a:sym typeface="Roboto"/>
                        </a:rPr>
                        <a:t>7</a:t>
                      </a:r>
                      <a:endParaRPr sz="1100">
                        <a:solidFill>
                          <a:srgbClr val="434343"/>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Gestion de gastos comunes y pagos</a:t>
                      </a:r>
                      <a:endParaRPr sz="1100">
                        <a:solidFill>
                          <a:srgbClr val="434343"/>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chemeClr val="dk1"/>
                          </a:solidFill>
                          <a:latin typeface="Roboto"/>
                          <a:ea typeface="Roboto"/>
                          <a:cs typeface="Roboto"/>
                          <a:sym typeface="Roboto"/>
                        </a:rPr>
                        <a:t>Funcional</a:t>
                      </a:r>
                      <a:endParaRPr sz="1100">
                        <a:solidFill>
                          <a:schemeClr val="dk1"/>
                        </a:solidFill>
                        <a:latin typeface="Calibri"/>
                        <a:ea typeface="Calibri"/>
                        <a:cs typeface="Calibri"/>
                        <a:sym typeface="Calibri"/>
                      </a:endParaRPr>
                    </a:p>
                  </a:txBody>
                  <a:tcPr marT="0" marB="0" marR="25400" marL="254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rgbClr val="FF9900"/>
                          </a:solidFill>
                          <a:latin typeface="Roboto"/>
                          <a:ea typeface="Roboto"/>
                          <a:cs typeface="Roboto"/>
                          <a:sym typeface="Roboto"/>
                        </a:rPr>
                        <a:t>Administrador</a:t>
                      </a:r>
                      <a:endParaRPr sz="1100">
                        <a:solidFill>
                          <a:srgbClr val="FF9900"/>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Se podra gestionar que gastos comunes se deben pagar</a:t>
                      </a:r>
                      <a:endParaRPr sz="1100">
                        <a:solidFill>
                          <a:srgbClr val="434343"/>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solidFill>
                      <a:srgbClr val="FFFFFF"/>
                    </a:solidFill>
                  </a:tcPr>
                </a:tc>
              </a:tr>
              <a:tr h="381000">
                <a:tc>
                  <a:txBody>
                    <a:bodyPr/>
                    <a:lstStyle/>
                    <a:p>
                      <a:pPr indent="0" lvl="0" marL="0" rtl="0" algn="l">
                        <a:lnSpc>
                          <a:spcPct val="115000"/>
                        </a:lnSpc>
                        <a:spcBef>
                          <a:spcPts val="0"/>
                        </a:spcBef>
                        <a:spcAft>
                          <a:spcPts val="0"/>
                        </a:spcAft>
                        <a:buNone/>
                      </a:pPr>
                      <a:r>
                        <a:rPr lang="es-CL" sz="1100">
                          <a:solidFill>
                            <a:srgbClr val="284E3F"/>
                          </a:solidFill>
                          <a:latin typeface="Roboto"/>
                          <a:ea typeface="Roboto"/>
                          <a:cs typeface="Roboto"/>
                          <a:sym typeface="Roboto"/>
                        </a:rPr>
                        <a:t>Generacion de Consultas e Informes</a:t>
                      </a:r>
                      <a:endParaRPr sz="1100">
                        <a:solidFill>
                          <a:srgbClr val="284E3F"/>
                        </a:solidFill>
                        <a:latin typeface="Calibri"/>
                        <a:ea typeface="Calibri"/>
                        <a:cs typeface="Calibri"/>
                        <a:sym typeface="Calibri"/>
                      </a:endParaRPr>
                    </a:p>
                  </a:txBody>
                  <a:tcPr marT="0" marB="0" marR="25400" marL="25400" anchor="ctr">
                    <a:lnL cap="flat" cmpd="sng" w="8650">
                      <a:solidFill>
                        <a:srgbClr val="284E3F"/>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s-CL" sz="1100">
                          <a:solidFill>
                            <a:srgbClr val="434343"/>
                          </a:solidFill>
                          <a:latin typeface="Roboto"/>
                          <a:ea typeface="Roboto"/>
                          <a:cs typeface="Roboto"/>
                          <a:sym typeface="Roboto"/>
                        </a:rPr>
                        <a:t>19</a:t>
                      </a:r>
                      <a:endParaRPr sz="1100">
                        <a:solidFill>
                          <a:srgbClr val="434343"/>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Consulta administrativa</a:t>
                      </a:r>
                      <a:endParaRPr sz="1100">
                        <a:solidFill>
                          <a:srgbClr val="434343"/>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chemeClr val="dk1"/>
                          </a:solidFill>
                          <a:latin typeface="Roboto"/>
                          <a:ea typeface="Roboto"/>
                          <a:cs typeface="Roboto"/>
                          <a:sym typeface="Roboto"/>
                        </a:rPr>
                        <a:t>Funcional</a:t>
                      </a:r>
                      <a:endParaRPr sz="1100">
                        <a:solidFill>
                          <a:schemeClr val="dk1"/>
                        </a:solidFill>
                        <a:latin typeface="Calibri"/>
                        <a:ea typeface="Calibri"/>
                        <a:cs typeface="Calibri"/>
                        <a:sym typeface="Calibri"/>
                      </a:endParaRPr>
                    </a:p>
                  </a:txBody>
                  <a:tcPr marT="0" marB="0" marR="25400" marL="254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rgbClr val="FF9900"/>
                          </a:solidFill>
                          <a:latin typeface="Roboto"/>
                          <a:ea typeface="Roboto"/>
                          <a:cs typeface="Roboto"/>
                          <a:sym typeface="Roboto"/>
                        </a:rPr>
                        <a:t>Administrador</a:t>
                      </a:r>
                      <a:endParaRPr sz="1100">
                        <a:solidFill>
                          <a:srgbClr val="FF9900"/>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CL" sz="1100">
                          <a:solidFill>
                            <a:srgbClr val="434343"/>
                          </a:solidFill>
                          <a:latin typeface="Roboto"/>
                          <a:ea typeface="Roboto"/>
                          <a:cs typeface="Roboto"/>
                          <a:sym typeface="Roboto"/>
                        </a:rPr>
                        <a:t>Se podra actualizar criterios de busqueda</a:t>
                      </a:r>
                      <a:endParaRPr sz="1100">
                        <a:solidFill>
                          <a:srgbClr val="434343"/>
                        </a:solidFill>
                        <a:latin typeface="Calibri"/>
                        <a:ea typeface="Calibri"/>
                        <a:cs typeface="Calibri"/>
                        <a:sym typeface="Calibri"/>
                      </a:endParaRPr>
                    </a:p>
                  </a:txBody>
                  <a:tcPr marT="0" marB="0" marR="76200" marL="76200" anchor="ctr">
                    <a:lnL cap="flat" cmpd="sng" w="8650">
                      <a:solidFill>
                        <a:srgbClr val="CCCCCC"/>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r>
            </a:tbl>
          </a:graphicData>
        </a:graphic>
      </p:graphicFrame>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aphicFrame>
        <p:nvGraphicFramePr>
          <p:cNvPr id="215" name="Google Shape;215;g3f306541c7c_0_59"/>
          <p:cNvGraphicFramePr/>
          <p:nvPr/>
        </p:nvGraphicFramePr>
        <p:xfrm>
          <a:off x="860300" y="860250"/>
          <a:ext cx="3000000" cy="3000000"/>
        </p:xfrm>
        <a:graphic>
          <a:graphicData uri="http://schemas.openxmlformats.org/drawingml/2006/table">
            <a:tbl>
              <a:tblPr>
                <a:noFill/>
                <a:tableStyleId>{F1FBD2C6-CD88-4B10-AABB-F8BC945B1501}</a:tableStyleId>
              </a:tblPr>
              <a:tblGrid>
                <a:gridCol w="1320950"/>
                <a:gridCol w="1320950"/>
                <a:gridCol w="1320950"/>
                <a:gridCol w="1320950"/>
                <a:gridCol w="1320950"/>
                <a:gridCol w="1320950"/>
                <a:gridCol w="1320950"/>
                <a:gridCol w="1320950"/>
              </a:tblGrid>
              <a:tr h="995400">
                <a:tc>
                  <a:txBody>
                    <a:bodyPr/>
                    <a:lstStyle/>
                    <a:p>
                      <a:pPr indent="0" lvl="0" marL="0" rtl="0" algn="l">
                        <a:spcBef>
                          <a:spcPts val="0"/>
                        </a:spcBef>
                        <a:spcAft>
                          <a:spcPts val="0"/>
                        </a:spcAft>
                        <a:buNone/>
                      </a:pPr>
                      <a:r>
                        <a:rPr lang="es-CL" sz="1000">
                          <a:latin typeface="Georgia"/>
                          <a:ea typeface="Georgia"/>
                          <a:cs typeface="Georgia"/>
                          <a:sym typeface="Georgia"/>
                        </a:rPr>
                        <a:t>Usabilidad</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N°1</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Usabilidad del sistema</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No funcional</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Todos</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El sistema debe ser intuitivo y fácil de usar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La interfaz debe ser comprensible para usuarios administrativos y residentes con distintos niveles de alfabetización digital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Solicitado</a:t>
                      </a:r>
                      <a:endParaRPr sz="1000">
                        <a:latin typeface="Georgia"/>
                        <a:ea typeface="Georgia"/>
                        <a:cs typeface="Georgia"/>
                        <a:sym typeface="Georgia"/>
                      </a:endParaRPr>
                    </a:p>
                  </a:txBody>
                  <a:tcPr marT="63500" marB="63500" marR="63500" marL="63500"/>
                </a:tc>
              </a:tr>
              <a:tr h="835175">
                <a:tc>
                  <a:txBody>
                    <a:bodyPr/>
                    <a:lstStyle/>
                    <a:p>
                      <a:pPr indent="0" lvl="0" marL="0" rtl="0" algn="l">
                        <a:spcBef>
                          <a:spcPts val="0"/>
                        </a:spcBef>
                        <a:spcAft>
                          <a:spcPts val="0"/>
                        </a:spcAft>
                        <a:buNone/>
                      </a:pPr>
                      <a:r>
                        <a:rPr lang="es-CL" sz="1000">
                          <a:latin typeface="Georgia"/>
                          <a:ea typeface="Georgia"/>
                          <a:cs typeface="Georgia"/>
                          <a:sym typeface="Georgia"/>
                        </a:rPr>
                        <a:t>Usabilidad</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N°2</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Accesibilidad</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No funciona</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Todos</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La interfaz debe ser accesible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Debe cumplir criterios básicos de accesibilidad visual y de navegación para personas con distintas capacidades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Solicitado</a:t>
                      </a:r>
                      <a:endParaRPr sz="1000">
                        <a:latin typeface="Georgia"/>
                        <a:ea typeface="Georgia"/>
                        <a:cs typeface="Georgia"/>
                        <a:sym typeface="Georgia"/>
                      </a:endParaRPr>
                    </a:p>
                  </a:txBody>
                  <a:tcPr marT="63500" marB="63500" marR="63500" marL="63500"/>
                </a:tc>
              </a:tr>
              <a:tr h="674950">
                <a:tc>
                  <a:txBody>
                    <a:bodyPr/>
                    <a:lstStyle/>
                    <a:p>
                      <a:pPr indent="0" lvl="0" marL="0" rtl="0" algn="l">
                        <a:spcBef>
                          <a:spcPts val="0"/>
                        </a:spcBef>
                        <a:spcAft>
                          <a:spcPts val="0"/>
                        </a:spcAft>
                        <a:buNone/>
                      </a:pPr>
                      <a:r>
                        <a:rPr lang="es-CL" sz="1000">
                          <a:latin typeface="Georgia"/>
                          <a:ea typeface="Georgia"/>
                          <a:cs typeface="Georgia"/>
                          <a:sym typeface="Georgia"/>
                        </a:rPr>
                        <a:t>Usabilidad</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N°3</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Compatibilidad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No funciona</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Todos</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Acceso desde distintos dispositivos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Debe ser accesible desde navegadores modernos y dispositivos móviles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Solicitado</a:t>
                      </a:r>
                      <a:endParaRPr sz="1000">
                        <a:latin typeface="Georgia"/>
                        <a:ea typeface="Georgia"/>
                        <a:cs typeface="Georgia"/>
                        <a:sym typeface="Georgia"/>
                      </a:endParaRPr>
                    </a:p>
                  </a:txBody>
                  <a:tcPr marT="63500" marB="63500" marR="63500" marL="63500"/>
                </a:tc>
              </a:tr>
              <a:tr h="674950">
                <a:tc>
                  <a:txBody>
                    <a:bodyPr/>
                    <a:lstStyle/>
                    <a:p>
                      <a:pPr indent="0" lvl="0" marL="0" rtl="0" algn="l">
                        <a:spcBef>
                          <a:spcPts val="0"/>
                        </a:spcBef>
                        <a:spcAft>
                          <a:spcPts val="0"/>
                        </a:spcAft>
                        <a:buNone/>
                      </a:pPr>
                      <a:r>
                        <a:rPr lang="es-CL" sz="1000">
                          <a:latin typeface="Georgia"/>
                          <a:ea typeface="Georgia"/>
                          <a:cs typeface="Georgia"/>
                          <a:sym typeface="Georgia"/>
                        </a:rPr>
                        <a:t>Rendimiento</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N°4</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Tiempo de respuesta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No funcional</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Todos</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Respuesta rápida del sistema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Las consultas comunes no deben superar los 3 segundos bajo carga normal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Solicitado</a:t>
                      </a:r>
                      <a:endParaRPr sz="1000">
                        <a:latin typeface="Georgia"/>
                        <a:ea typeface="Georgia"/>
                        <a:cs typeface="Georgia"/>
                        <a:sym typeface="Georgia"/>
                      </a:endParaRPr>
                    </a:p>
                  </a:txBody>
                  <a:tcPr marT="63500" marB="63500" marR="63500" marL="63500"/>
                </a:tc>
              </a:tr>
              <a:tr h="674950">
                <a:tc>
                  <a:txBody>
                    <a:bodyPr/>
                    <a:lstStyle/>
                    <a:p>
                      <a:pPr indent="0" lvl="0" marL="0" rtl="0" algn="l">
                        <a:spcBef>
                          <a:spcPts val="0"/>
                        </a:spcBef>
                        <a:spcAft>
                          <a:spcPts val="0"/>
                        </a:spcAft>
                        <a:buNone/>
                      </a:pPr>
                      <a:r>
                        <a:rPr lang="es-CL" sz="1000">
                          <a:latin typeface="Georgia"/>
                          <a:ea typeface="Georgia"/>
                          <a:cs typeface="Georgia"/>
                          <a:sym typeface="Georgia"/>
                        </a:rPr>
                        <a:t>Rendimiento</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N°5</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Soporte multiusuario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No funcional</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Todos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Uso simultáneo  sin fallas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Debe permitir múltiples usuarios sin degradación crítica del servicio </a:t>
                      </a:r>
                      <a:endParaRPr sz="1000">
                        <a:latin typeface="Georgia"/>
                        <a:ea typeface="Georgia"/>
                        <a:cs typeface="Georgia"/>
                        <a:sym typeface="Georgia"/>
                      </a:endParaRPr>
                    </a:p>
                  </a:txBody>
                  <a:tcPr marT="63500" marB="63500" marR="63500" marL="63500"/>
                </a:tc>
                <a:tc>
                  <a:txBody>
                    <a:bodyPr/>
                    <a:lstStyle/>
                    <a:p>
                      <a:pPr indent="0" lvl="0" marL="0" rtl="0" algn="l">
                        <a:spcBef>
                          <a:spcPts val="0"/>
                        </a:spcBef>
                        <a:spcAft>
                          <a:spcPts val="0"/>
                        </a:spcAft>
                        <a:buNone/>
                      </a:pPr>
                      <a:r>
                        <a:rPr lang="es-CL" sz="1000">
                          <a:latin typeface="Georgia"/>
                          <a:ea typeface="Georgia"/>
                          <a:cs typeface="Georgia"/>
                          <a:sym typeface="Georgia"/>
                        </a:rPr>
                        <a:t>Solicitado</a:t>
                      </a:r>
                      <a:endParaRPr sz="1000">
                        <a:latin typeface="Georgia"/>
                        <a:ea typeface="Georgia"/>
                        <a:cs typeface="Georgia"/>
                        <a:sym typeface="Georgia"/>
                      </a:endParaRPr>
                    </a:p>
                  </a:txBody>
                  <a:tcPr marT="63500" marB="63500" marR="63500" marL="6350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EscuelaIT Duoc UC - Escuela de Informática y Telecomunicaciones Duoc UC - Duoc  UC | LinkedIn" id="220" name="Google Shape;220;p1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21" name="Google Shape;221;p10"/>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222" name="Google Shape;222;p10"/>
          <p:cNvSpPr txBox="1"/>
          <p:nvPr/>
        </p:nvSpPr>
        <p:spPr>
          <a:xfrm>
            <a:off x="-1705750" y="-69620"/>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ESTÁNDARES DE CALIDAD - ISO25000 Y OTROS</a:t>
            </a:r>
            <a:endParaRPr/>
          </a:p>
        </p:txBody>
      </p:sp>
      <p:cxnSp>
        <p:nvCxnSpPr>
          <p:cNvPr id="223" name="Google Shape;223;p10"/>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graphicFrame>
        <p:nvGraphicFramePr>
          <p:cNvPr id="224" name="Google Shape;224;p10"/>
          <p:cNvGraphicFramePr/>
          <p:nvPr/>
        </p:nvGraphicFramePr>
        <p:xfrm>
          <a:off x="228925" y="758024"/>
          <a:ext cx="3000000" cy="3000000"/>
        </p:xfrm>
        <a:graphic>
          <a:graphicData uri="http://schemas.openxmlformats.org/drawingml/2006/table">
            <a:tbl>
              <a:tblPr bandRow="1" firstRow="1">
                <a:noFill/>
                <a:tableStyleId>{5D866067-8457-4892-B61C-B6E68CC51188}</a:tableStyleId>
              </a:tblPr>
              <a:tblGrid>
                <a:gridCol w="1845425"/>
                <a:gridCol w="3040800"/>
                <a:gridCol w="6082075"/>
              </a:tblGrid>
              <a:tr h="639125">
                <a:tc>
                  <a:txBody>
                    <a:bodyPr/>
                    <a:lstStyle/>
                    <a:p>
                      <a:pPr indent="0" lvl="0" marL="0" marR="0" rtl="0" algn="l">
                        <a:spcBef>
                          <a:spcPts val="0"/>
                        </a:spcBef>
                        <a:spcAft>
                          <a:spcPts val="0"/>
                        </a:spcAft>
                        <a:buNone/>
                      </a:pPr>
                      <a:r>
                        <a:rPr b="1" i="0" lang="es-CL" sz="1500" u="none" cap="none" strike="noStrike">
                          <a:solidFill>
                            <a:srgbClr val="DEFF9A"/>
                          </a:solidFill>
                          <a:latin typeface="Urbanist"/>
                          <a:ea typeface="Urbanist"/>
                          <a:cs typeface="Urbanist"/>
                          <a:sym typeface="Urbanist"/>
                        </a:rPr>
                        <a:t>Atributo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1A1A"/>
                    </a:solidFill>
                  </a:tcPr>
                </a:tc>
                <a:tc>
                  <a:txBody>
                    <a:bodyPr/>
                    <a:lstStyle/>
                    <a:p>
                      <a:pPr indent="0" lvl="0" marL="0" marR="0" rtl="0" algn="l">
                        <a:spcBef>
                          <a:spcPts val="0"/>
                        </a:spcBef>
                        <a:spcAft>
                          <a:spcPts val="0"/>
                        </a:spcAft>
                        <a:buNone/>
                      </a:pPr>
                      <a:r>
                        <a:rPr b="1" i="0" lang="es-CL" sz="1500" u="none" cap="none" strike="noStrike">
                          <a:solidFill>
                            <a:srgbClr val="DEFF9A"/>
                          </a:solidFill>
                          <a:latin typeface="Urbanist"/>
                          <a:ea typeface="Urbanist"/>
                          <a:cs typeface="Urbanist"/>
                          <a:sym typeface="Urbanist"/>
                        </a:rPr>
                        <a:t>Métrica de Cumplimiento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1A1A"/>
                    </a:solidFill>
                  </a:tcPr>
                </a:tc>
                <a:tc>
                  <a:txBody>
                    <a:bodyPr/>
                    <a:lstStyle/>
                    <a:p>
                      <a:pPr indent="0" lvl="0" marL="0" marR="0" rtl="0" algn="l">
                        <a:spcBef>
                          <a:spcPts val="0"/>
                        </a:spcBef>
                        <a:spcAft>
                          <a:spcPts val="0"/>
                        </a:spcAft>
                        <a:buNone/>
                      </a:pPr>
                      <a:r>
                        <a:rPr b="1" i="0" lang="es-CL" sz="1500" u="none" cap="none" strike="noStrike">
                          <a:solidFill>
                            <a:srgbClr val="DEFF9A"/>
                          </a:solidFill>
                          <a:latin typeface="Urbanist"/>
                          <a:ea typeface="Urbanist"/>
                          <a:cs typeface="Urbanist"/>
                          <a:sym typeface="Urbanist"/>
                        </a:rPr>
                        <a:t>Propósito para el Usuario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1A1A"/>
                    </a:solidFill>
                  </a:tcPr>
                </a:tc>
              </a:tr>
              <a:tr h="639125">
                <a:tc>
                  <a:txBody>
                    <a:bodyPr/>
                    <a:lstStyle/>
                    <a:p>
                      <a:pPr indent="0" lvl="0" marL="0" marR="0" rtl="0" algn="l">
                        <a:spcBef>
                          <a:spcPts val="0"/>
                        </a:spcBef>
                        <a:spcAft>
                          <a:spcPts val="0"/>
                        </a:spcAft>
                        <a:buNone/>
                      </a:pPr>
                      <a:r>
                        <a:rPr b="1" i="0" lang="es-CL" sz="1500" cap="none" strike="noStrike">
                          <a:latin typeface="Urbanist"/>
                          <a:ea typeface="Urbanist"/>
                          <a:cs typeface="Urbanist"/>
                          <a:sym typeface="Urbanist"/>
                        </a:rPr>
                        <a:t>Rendimiento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s-CL" sz="1500" cap="none" strike="noStrike">
                          <a:latin typeface="Urbanist"/>
                          <a:ea typeface="Urbanist"/>
                          <a:cs typeface="Urbanist"/>
                          <a:sym typeface="Urbanist"/>
                        </a:rPr>
                        <a:t>Respuesta &lt; 3 segundos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s-CL" sz="1500" cap="none" strike="noStrike">
                          <a:latin typeface="Urbanist"/>
                          <a:ea typeface="Urbanist"/>
                          <a:cs typeface="Urbanist"/>
                          <a:sym typeface="Urbanist"/>
                        </a:rPr>
                        <a:t>Fluidez en la consulta de gastos comunes.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9125">
                <a:tc>
                  <a:txBody>
                    <a:bodyPr/>
                    <a:lstStyle/>
                    <a:p>
                      <a:pPr indent="0" lvl="0" marL="0" marR="0" rtl="0" algn="l">
                        <a:spcBef>
                          <a:spcPts val="0"/>
                        </a:spcBef>
                        <a:spcAft>
                          <a:spcPts val="0"/>
                        </a:spcAft>
                        <a:buNone/>
                      </a:pPr>
                      <a:r>
                        <a:rPr b="1" i="0" lang="es-CL" sz="1500" cap="none" strike="noStrike">
                          <a:latin typeface="Urbanist"/>
                          <a:ea typeface="Urbanist"/>
                          <a:cs typeface="Urbanist"/>
                          <a:sym typeface="Urbanist"/>
                        </a:rPr>
                        <a:t>Disponibilidad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s-CL" sz="1500" cap="none" strike="noStrike">
                          <a:latin typeface="Urbanist"/>
                          <a:ea typeface="Urbanist"/>
                          <a:cs typeface="Urbanist"/>
                          <a:sym typeface="Urbanist"/>
                        </a:rPr>
                        <a:t>Uptime de 99% mensual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s-CL" sz="1500" cap="none" strike="noStrike">
                          <a:latin typeface="Urbanist"/>
                          <a:ea typeface="Urbanist"/>
                          <a:cs typeface="Urbanist"/>
                          <a:sym typeface="Urbanist"/>
                        </a:rPr>
                        <a:t>Acceso garantizado para pagos en cualquier momento.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9125">
                <a:tc>
                  <a:txBody>
                    <a:bodyPr/>
                    <a:lstStyle/>
                    <a:p>
                      <a:pPr indent="0" lvl="0" marL="0" marR="0" rtl="0" algn="l">
                        <a:spcBef>
                          <a:spcPts val="0"/>
                        </a:spcBef>
                        <a:spcAft>
                          <a:spcPts val="0"/>
                        </a:spcAft>
                        <a:buNone/>
                      </a:pPr>
                      <a:r>
                        <a:rPr b="1" i="0" lang="es-CL" sz="1500" cap="none" strike="noStrike">
                          <a:latin typeface="Urbanist"/>
                          <a:ea typeface="Urbanist"/>
                          <a:cs typeface="Urbanist"/>
                          <a:sym typeface="Urbanist"/>
                        </a:rPr>
                        <a:t>Seguridad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s-CL" sz="1500" cap="none" strike="noStrike">
                          <a:latin typeface="Urbanist"/>
                          <a:ea typeface="Urbanist"/>
                          <a:cs typeface="Urbanist"/>
                          <a:sym typeface="Urbanist"/>
                        </a:rPr>
                        <a:t>Control RBAC (Roles)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s-CL" sz="1500" cap="none" strike="noStrike">
                          <a:latin typeface="Urbanist"/>
                          <a:ea typeface="Urbanist"/>
                          <a:cs typeface="Urbanist"/>
                          <a:sym typeface="Urbanist"/>
                        </a:rPr>
                        <a:t>Protección de datos financieros sensibles.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525">
                <a:tc>
                  <a:txBody>
                    <a:bodyPr/>
                    <a:lstStyle/>
                    <a:p>
                      <a:pPr indent="0" lvl="0" marL="0" marR="0" rtl="0" algn="l">
                        <a:spcBef>
                          <a:spcPts val="0"/>
                        </a:spcBef>
                        <a:spcAft>
                          <a:spcPts val="0"/>
                        </a:spcAft>
                        <a:buNone/>
                      </a:pPr>
                      <a:r>
                        <a:rPr b="1" i="0" lang="es-CL" sz="1500" cap="none" strike="noStrike">
                          <a:latin typeface="Urbanist"/>
                          <a:ea typeface="Urbanist"/>
                          <a:cs typeface="Urbanist"/>
                          <a:sym typeface="Urbanist"/>
                        </a:rPr>
                        <a:t>Usabilidad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s-CL" sz="1500" cap="none" strike="noStrike">
                          <a:latin typeface="Urbanist"/>
                          <a:ea typeface="Urbanist"/>
                          <a:cs typeface="Urbanist"/>
                          <a:sym typeface="Urbanist"/>
                        </a:rPr>
                        <a:t>90% Heurísticas Nielsen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s-CL" sz="1500" cap="none" strike="noStrike">
                          <a:latin typeface="Urbanist"/>
                          <a:ea typeface="Urbanist"/>
                          <a:cs typeface="Urbanist"/>
                          <a:sym typeface="Urbanist"/>
                        </a:rPr>
                        <a:t>Curva de aprendizaje mínima para residentes.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525">
                <a:tc>
                  <a:txBody>
                    <a:bodyPr/>
                    <a:lstStyle/>
                    <a:p>
                      <a:pPr indent="0" lvl="0" marL="0" marR="0" rtl="0" algn="l">
                        <a:spcBef>
                          <a:spcPts val="0"/>
                        </a:spcBef>
                        <a:spcAft>
                          <a:spcPts val="0"/>
                        </a:spcAft>
                        <a:buNone/>
                      </a:pPr>
                      <a:r>
                        <a:rPr b="1" lang="es-CL" sz="1500">
                          <a:latin typeface="Urbanist"/>
                          <a:ea typeface="Urbanist"/>
                          <a:cs typeface="Urbanist"/>
                          <a:sym typeface="Urbanist"/>
                        </a:rPr>
                        <a:t>Accesibilidad </a:t>
                      </a:r>
                      <a:endParaRPr b="1" i="0" sz="1500" cap="none" strike="noStrike">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Clr>
                          <a:srgbClr val="000000"/>
                        </a:buClr>
                        <a:buSzPts val="1100"/>
                        <a:buFont typeface="Arial"/>
                        <a:buNone/>
                      </a:pPr>
                      <a:r>
                        <a:rPr lang="es-CL" sz="1450">
                          <a:latin typeface="Urbanist"/>
                          <a:ea typeface="Urbanist"/>
                          <a:cs typeface="Urbanist"/>
                          <a:sym typeface="Urbanist"/>
                        </a:rPr>
                        <a:t>Cumplimiento total de las pautas WCAG 2.1 nivel AA</a:t>
                      </a:r>
                      <a:endParaRPr i="0" sz="1900" cap="none" strike="noStrike">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Clr>
                          <a:srgbClr val="000000"/>
                        </a:buClr>
                        <a:buSzPts val="1100"/>
                        <a:buFont typeface="Arial"/>
                        <a:buNone/>
                      </a:pPr>
                      <a:r>
                        <a:rPr lang="es-CL" sz="1550">
                          <a:latin typeface="Arial"/>
                          <a:ea typeface="Arial"/>
                          <a:cs typeface="Arial"/>
                          <a:sym typeface="Arial"/>
                        </a:rPr>
                        <a:t>Asegurar el uso por personas con distintas capacidades</a:t>
                      </a:r>
                      <a:endParaRPr b="0" i="0" sz="2000" cap="none" strike="noStrike">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525">
                <a:tc>
                  <a:txBody>
                    <a:bodyPr/>
                    <a:lstStyle/>
                    <a:p>
                      <a:pPr indent="0" lvl="0" marL="0" marR="0" rtl="0" algn="l">
                        <a:spcBef>
                          <a:spcPts val="0"/>
                        </a:spcBef>
                        <a:spcAft>
                          <a:spcPts val="0"/>
                        </a:spcAft>
                        <a:buNone/>
                      </a:pPr>
                      <a:r>
                        <a:rPr b="1" lang="es-CL" sz="1500">
                          <a:latin typeface="Urbanist"/>
                          <a:ea typeface="Urbanist"/>
                          <a:cs typeface="Urbanist"/>
                          <a:sym typeface="Urbanist"/>
                        </a:rPr>
                        <a:t>Seguridad</a:t>
                      </a:r>
                      <a:endParaRPr b="1" sz="1500">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Clr>
                          <a:srgbClr val="000000"/>
                        </a:buClr>
                        <a:buSzPts val="1100"/>
                        <a:buFont typeface="Arial"/>
                        <a:buNone/>
                      </a:pPr>
                      <a:r>
                        <a:rPr lang="es-CL" sz="1150">
                          <a:latin typeface="Urbanist"/>
                          <a:ea typeface="Urbanist"/>
                          <a:cs typeface="Urbanist"/>
                          <a:sym typeface="Urbanist"/>
                        </a:rPr>
                        <a:t>100% de las operaciones críticas deben quedar registradas en el log de auditoría</a:t>
                      </a:r>
                      <a:endParaRPr sz="1550">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None/>
                      </a:pPr>
                      <a:r>
                        <a:rPr lang="es-CL" sz="1550">
                          <a:latin typeface="Arial"/>
                          <a:ea typeface="Arial"/>
                          <a:cs typeface="Arial"/>
                          <a:sym typeface="Arial"/>
                        </a:rPr>
                        <a:t>Proteger la información crítica de los usuarios</a:t>
                      </a:r>
                      <a:endParaRPr sz="155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525">
                <a:tc>
                  <a:txBody>
                    <a:bodyPr/>
                    <a:lstStyle/>
                    <a:p>
                      <a:pPr indent="0" lvl="0" marL="0" rtl="0" algn="just">
                        <a:spcBef>
                          <a:spcPts val="0"/>
                        </a:spcBef>
                        <a:spcAft>
                          <a:spcPts val="0"/>
                        </a:spcAft>
                        <a:buClr>
                          <a:srgbClr val="000000"/>
                        </a:buClr>
                        <a:buSzPts val="1100"/>
                        <a:buFont typeface="Arial"/>
                        <a:buNone/>
                      </a:pPr>
                      <a:r>
                        <a:rPr b="1" lang="es-CL" sz="1450">
                          <a:latin typeface="Arial"/>
                          <a:ea typeface="Arial"/>
                          <a:cs typeface="Arial"/>
                          <a:sym typeface="Arial"/>
                        </a:rPr>
                        <a:t>Confiabilidad</a:t>
                      </a:r>
                      <a:endParaRPr b="1" sz="1900">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Clr>
                          <a:srgbClr val="000000"/>
                        </a:buClr>
                        <a:buSzPts val="1100"/>
                        <a:buFont typeface="Arial"/>
                        <a:buNone/>
                      </a:pPr>
                      <a:r>
                        <a:rPr lang="es-CL" sz="1350">
                          <a:latin typeface="Urbanist"/>
                          <a:ea typeface="Urbanist"/>
                          <a:cs typeface="Urbanist"/>
                          <a:sym typeface="Urbanist"/>
                        </a:rPr>
                        <a:t>0% de pérdida de datos financieros tras una falla del sistema.</a:t>
                      </a:r>
                      <a:endParaRPr sz="1350">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Clr>
                          <a:srgbClr val="000000"/>
                        </a:buClr>
                        <a:buSzPts val="1100"/>
                        <a:buFont typeface="Arial"/>
                        <a:buNone/>
                      </a:pPr>
                      <a:r>
                        <a:rPr lang="es-CL" sz="1450">
                          <a:latin typeface="Arial"/>
                          <a:ea typeface="Arial"/>
                          <a:cs typeface="Arial"/>
                          <a:sym typeface="Arial"/>
                        </a:rPr>
                        <a:t>Restauraciones de base de datos para verificar la integridad de la información almacenada.</a:t>
                      </a:r>
                      <a:endParaRPr sz="195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525">
                <a:tc>
                  <a:txBody>
                    <a:bodyPr/>
                    <a:lstStyle/>
                    <a:p>
                      <a:pPr indent="0" lvl="0" marL="0" rtl="0" algn="just">
                        <a:spcBef>
                          <a:spcPts val="0"/>
                        </a:spcBef>
                        <a:spcAft>
                          <a:spcPts val="0"/>
                        </a:spcAft>
                        <a:buClr>
                          <a:srgbClr val="000000"/>
                        </a:buClr>
                        <a:buSzPts val="1100"/>
                        <a:buFont typeface="Arial"/>
                        <a:buNone/>
                      </a:pPr>
                      <a:r>
                        <a:rPr b="1" lang="es-CL" sz="1350">
                          <a:latin typeface="Arial"/>
                          <a:ea typeface="Arial"/>
                          <a:cs typeface="Arial"/>
                          <a:sym typeface="Arial"/>
                        </a:rPr>
                        <a:t>Portabilidad</a:t>
                      </a:r>
                      <a:endParaRPr b="1" sz="135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Clr>
                          <a:srgbClr val="000000"/>
                        </a:buClr>
                        <a:buSzPts val="1100"/>
                        <a:buFont typeface="Arial"/>
                        <a:buNone/>
                      </a:pPr>
                      <a:r>
                        <a:rPr lang="es-CL" sz="1250">
                          <a:latin typeface="Urbanist"/>
                          <a:ea typeface="Urbanist"/>
                          <a:cs typeface="Urbanist"/>
                          <a:sym typeface="Urbanist"/>
                        </a:rPr>
                        <a:t>100% de los navegadores modernos (y dispositivos móviles (Android/iOS).</a:t>
                      </a:r>
                      <a:endParaRPr sz="1250">
                        <a:latin typeface="Urbanist"/>
                        <a:ea typeface="Urbanist"/>
                        <a:cs typeface="Urbanist"/>
                        <a:sym typeface="Urbanist"/>
                      </a:endParaRPr>
                    </a:p>
                    <a:p>
                      <a:pPr indent="0" lvl="0" marL="0" rtl="0" algn="just">
                        <a:spcBef>
                          <a:spcPts val="0"/>
                        </a:spcBef>
                        <a:spcAft>
                          <a:spcPts val="0"/>
                        </a:spcAft>
                        <a:buNone/>
                      </a:pPr>
                      <a:r>
                        <a:t/>
                      </a:r>
                      <a:endParaRPr sz="1350">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None/>
                      </a:pPr>
                      <a:r>
                        <a:rPr lang="es-CL" sz="1450">
                          <a:latin typeface="Arial"/>
                          <a:ea typeface="Arial"/>
                          <a:cs typeface="Arial"/>
                          <a:sym typeface="Arial"/>
                        </a:rPr>
                        <a:t>Poder entrar desde donde quieran al software</a:t>
                      </a:r>
                      <a:endParaRPr sz="145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525">
                <a:tc>
                  <a:txBody>
                    <a:bodyPr/>
                    <a:lstStyle/>
                    <a:p>
                      <a:pPr indent="0" lvl="0" marL="0" rtl="0" algn="just">
                        <a:spcBef>
                          <a:spcPts val="0"/>
                        </a:spcBef>
                        <a:spcAft>
                          <a:spcPts val="0"/>
                        </a:spcAft>
                        <a:buClr>
                          <a:srgbClr val="000000"/>
                        </a:buClr>
                        <a:buSzPts val="1100"/>
                        <a:buFont typeface="Arial"/>
                        <a:buNone/>
                      </a:pPr>
                      <a:r>
                        <a:rPr b="1" lang="es-CL" sz="1050">
                          <a:latin typeface="Arial"/>
                          <a:ea typeface="Arial"/>
                          <a:cs typeface="Arial"/>
                          <a:sym typeface="Arial"/>
                        </a:rPr>
                        <a:t>Calidad de Datos</a:t>
                      </a:r>
                      <a:endParaRPr b="1" sz="135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Clr>
                          <a:srgbClr val="000000"/>
                        </a:buClr>
                        <a:buSzPts val="1100"/>
                        <a:buFont typeface="Arial"/>
                        <a:buNone/>
                      </a:pPr>
                      <a:r>
                        <a:rPr lang="es-CL" sz="1050">
                          <a:latin typeface="Arial"/>
                          <a:ea typeface="Arial"/>
                          <a:cs typeface="Arial"/>
                          <a:sym typeface="Arial"/>
                        </a:rPr>
                        <a:t>rechazar el </a:t>
                      </a:r>
                      <a:r>
                        <a:rPr b="1" lang="es-CL" sz="1050">
                          <a:latin typeface="Arial"/>
                          <a:ea typeface="Arial"/>
                          <a:cs typeface="Arial"/>
                          <a:sym typeface="Arial"/>
                        </a:rPr>
                        <a:t>100% de los ingresos de RUT duplicados</a:t>
                      </a:r>
                      <a:r>
                        <a:rPr lang="es-CL" sz="1050">
                          <a:latin typeface="Arial"/>
                          <a:ea typeface="Arial"/>
                          <a:cs typeface="Arial"/>
                          <a:sym typeface="Arial"/>
                        </a:rPr>
                        <a:t> y campos obligatorios vacíos.</a:t>
                      </a:r>
                      <a:endParaRPr sz="1050">
                        <a:latin typeface="Arial"/>
                        <a:ea typeface="Arial"/>
                        <a:cs typeface="Arial"/>
                        <a:sym typeface="Arial"/>
                      </a:endParaRPr>
                    </a:p>
                    <a:p>
                      <a:pPr indent="0" lvl="0" marL="0" rtl="0" algn="just">
                        <a:spcBef>
                          <a:spcPts val="0"/>
                        </a:spcBef>
                        <a:spcAft>
                          <a:spcPts val="0"/>
                        </a:spcAft>
                        <a:buNone/>
                      </a:pPr>
                      <a:r>
                        <a:t/>
                      </a:r>
                      <a:endParaRPr sz="1250">
                        <a:latin typeface="Urbanist"/>
                        <a:ea typeface="Urbanist"/>
                        <a:cs typeface="Urbanist"/>
                        <a:sym typeface="Urbanist"/>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just">
                        <a:spcBef>
                          <a:spcPts val="0"/>
                        </a:spcBef>
                        <a:spcAft>
                          <a:spcPts val="0"/>
                        </a:spcAft>
                        <a:buNone/>
                      </a:pPr>
                      <a:r>
                        <a:rPr lang="es-CL" sz="1450">
                          <a:latin typeface="Arial"/>
                          <a:ea typeface="Arial"/>
                          <a:cs typeface="Arial"/>
                          <a:sym typeface="Arial"/>
                        </a:rPr>
                        <a:t>Mantener el correcto funcionamiento del software y la identificación correcta de los usuarios</a:t>
                      </a:r>
                      <a:endParaRPr sz="145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EscuelaIT Duoc UC - Escuela de Informática y Telecomunicaciones Duoc UC - Duoc  UC | LinkedIn" id="229" name="Google Shape;229;p1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30" name="Google Shape;230;p11"/>
          <p:cNvSpPr txBox="1"/>
          <p:nvPr/>
        </p:nvSpPr>
        <p:spPr>
          <a:xfrm>
            <a:off x="1" y="1195742"/>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a:p>
          <a:p>
            <a:pPr indent="0" lvl="0" marL="0" marR="0" rtl="0" algn="ctr">
              <a:spcBef>
                <a:spcPts val="0"/>
              </a:spcBef>
              <a:spcAft>
                <a:spcPts val="0"/>
              </a:spcAft>
              <a:buNone/>
            </a:pPr>
            <a:r>
              <a:t/>
            </a:r>
            <a:endParaRPr sz="2400">
              <a:solidFill>
                <a:srgbClr val="757070"/>
              </a:solidFill>
              <a:latin typeface="Calibri"/>
              <a:ea typeface="Calibri"/>
              <a:cs typeface="Calibri"/>
              <a:sym typeface="Calibri"/>
            </a:endParaRPr>
          </a:p>
        </p:txBody>
      </p:sp>
      <p:sp>
        <p:nvSpPr>
          <p:cNvPr id="231" name="Google Shape;231;p11"/>
          <p:cNvSpPr txBox="1"/>
          <p:nvPr/>
        </p:nvSpPr>
        <p:spPr>
          <a:xfrm>
            <a:off x="4492650" y="3116100"/>
            <a:ext cx="3206700" cy="6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2800" u="sng">
                <a:solidFill>
                  <a:schemeClr val="hlink"/>
                </a:solidFill>
                <a:latin typeface="Calibri"/>
                <a:ea typeface="Calibri"/>
                <a:cs typeface="Calibri"/>
                <a:sym typeface="Calibri"/>
                <a:hlinkClick r:id="rId4"/>
              </a:rPr>
              <a:t>ENLACE DE FIGMA</a:t>
            </a:r>
            <a:endParaRPr sz="2800">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EscuelaIT Duoc UC - Escuela de Informática y Telecomunicaciones Duoc UC - Duoc  UC | LinkedIn" id="236" name="Google Shape;236;p1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37" name="Google Shape;237;p12"/>
          <p:cNvSpPr txBox="1"/>
          <p:nvPr/>
        </p:nvSpPr>
        <p:spPr>
          <a:xfrm>
            <a:off x="-1717374" y="66595"/>
            <a:ext cx="12192000" cy="53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2900">
                <a:solidFill>
                  <a:schemeClr val="dk1"/>
                </a:solidFill>
                <a:latin typeface="Calibri"/>
                <a:ea typeface="Calibri"/>
                <a:cs typeface="Calibri"/>
                <a:sym typeface="Calibri"/>
              </a:rPr>
              <a:t>HEURISTICA DE NIELSEN Y CASOS DE PRUEBA (ISO25000)</a:t>
            </a:r>
            <a:endParaRPr sz="100"/>
          </a:p>
        </p:txBody>
      </p:sp>
      <p:pic>
        <p:nvPicPr>
          <p:cNvPr id="238" name="Google Shape;238;p12"/>
          <p:cNvPicPr preferRelativeResize="0"/>
          <p:nvPr/>
        </p:nvPicPr>
        <p:blipFill rotWithShape="1">
          <a:blip r:embed="rId4">
            <a:alphaModFix/>
          </a:blip>
          <a:srcRect b="-1560" l="0" r="0" t="1560"/>
          <a:stretch/>
        </p:blipFill>
        <p:spPr>
          <a:xfrm>
            <a:off x="7400775" y="3205175"/>
            <a:ext cx="3856799" cy="3525226"/>
          </a:xfrm>
          <a:prstGeom prst="rect">
            <a:avLst/>
          </a:prstGeom>
          <a:noFill/>
          <a:ln>
            <a:noFill/>
          </a:ln>
        </p:spPr>
      </p:pic>
      <p:pic>
        <p:nvPicPr>
          <p:cNvPr id="239" name="Google Shape;239;p12"/>
          <p:cNvPicPr preferRelativeResize="0"/>
          <p:nvPr/>
        </p:nvPicPr>
        <p:blipFill>
          <a:blip r:embed="rId5">
            <a:alphaModFix/>
          </a:blip>
          <a:stretch>
            <a:fillRect/>
          </a:stretch>
        </p:blipFill>
        <p:spPr>
          <a:xfrm>
            <a:off x="46425" y="767850"/>
            <a:ext cx="6824350" cy="5674799"/>
          </a:xfrm>
          <a:prstGeom prst="rect">
            <a:avLst/>
          </a:prstGeom>
          <a:noFill/>
          <a:ln>
            <a:noFill/>
          </a:ln>
        </p:spPr>
      </p:pic>
      <p:pic>
        <p:nvPicPr>
          <p:cNvPr id="240" name="Google Shape;240;p12"/>
          <p:cNvPicPr preferRelativeResize="0"/>
          <p:nvPr/>
        </p:nvPicPr>
        <p:blipFill>
          <a:blip r:embed="rId6">
            <a:alphaModFix/>
          </a:blip>
          <a:stretch>
            <a:fillRect/>
          </a:stretch>
        </p:blipFill>
        <p:spPr>
          <a:xfrm>
            <a:off x="7400775" y="799156"/>
            <a:ext cx="2841775" cy="2212268"/>
          </a:xfrm>
          <a:prstGeom prst="rect">
            <a:avLst/>
          </a:prstGeom>
          <a:noFill/>
          <a:ln>
            <a:noFill/>
          </a:ln>
        </p:spPr>
      </p:pic>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EscuelaIT Duoc UC - Escuela de Informática y Telecomunicaciones Duoc UC - Duoc  UC | LinkedIn" id="245" name="Google Shape;245;p1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46" name="Google Shape;246;p13"/>
          <p:cNvSpPr txBox="1"/>
          <p:nvPr/>
        </p:nvSpPr>
        <p:spPr>
          <a:xfrm>
            <a:off x="-1601349" y="107523"/>
            <a:ext cx="12192000" cy="615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400">
                <a:solidFill>
                  <a:schemeClr val="dk1"/>
                </a:solidFill>
                <a:latin typeface="Calibri"/>
                <a:ea typeface="Calibri"/>
                <a:cs typeface="Calibri"/>
                <a:sym typeface="Calibri"/>
              </a:rPr>
              <a:t>ACCIONES DE MEJORA Y CONTROL DE VERSIONES</a:t>
            </a:r>
            <a:endParaRPr sz="400"/>
          </a:p>
        </p:txBody>
      </p:sp>
      <p:pic>
        <p:nvPicPr>
          <p:cNvPr id="247" name="Google Shape;247;p13"/>
          <p:cNvPicPr preferRelativeResize="0"/>
          <p:nvPr/>
        </p:nvPicPr>
        <p:blipFill>
          <a:blip r:embed="rId4">
            <a:alphaModFix/>
          </a:blip>
          <a:stretch>
            <a:fillRect/>
          </a:stretch>
        </p:blipFill>
        <p:spPr>
          <a:xfrm>
            <a:off x="164000" y="723125"/>
            <a:ext cx="2484875" cy="3354150"/>
          </a:xfrm>
          <a:prstGeom prst="rect">
            <a:avLst/>
          </a:prstGeom>
          <a:noFill/>
          <a:ln>
            <a:noFill/>
          </a:ln>
        </p:spPr>
      </p:pic>
      <p:pic>
        <p:nvPicPr>
          <p:cNvPr id="248" name="Google Shape;248;p13"/>
          <p:cNvPicPr preferRelativeResize="0"/>
          <p:nvPr/>
        </p:nvPicPr>
        <p:blipFill>
          <a:blip r:embed="rId5">
            <a:alphaModFix/>
          </a:blip>
          <a:stretch>
            <a:fillRect/>
          </a:stretch>
        </p:blipFill>
        <p:spPr>
          <a:xfrm>
            <a:off x="2859300" y="742852"/>
            <a:ext cx="2695575" cy="3314700"/>
          </a:xfrm>
          <a:prstGeom prst="rect">
            <a:avLst/>
          </a:prstGeom>
          <a:noFill/>
          <a:ln>
            <a:noFill/>
          </a:ln>
        </p:spPr>
      </p:pic>
      <p:pic>
        <p:nvPicPr>
          <p:cNvPr id="249" name="Google Shape;249;p13"/>
          <p:cNvPicPr preferRelativeResize="0"/>
          <p:nvPr/>
        </p:nvPicPr>
        <p:blipFill>
          <a:blip r:embed="rId6">
            <a:alphaModFix/>
          </a:blip>
          <a:stretch>
            <a:fillRect/>
          </a:stretch>
        </p:blipFill>
        <p:spPr>
          <a:xfrm>
            <a:off x="5765300" y="742852"/>
            <a:ext cx="2686050" cy="2276475"/>
          </a:xfrm>
          <a:prstGeom prst="rect">
            <a:avLst/>
          </a:prstGeom>
          <a:noFill/>
          <a:ln>
            <a:noFill/>
          </a:ln>
        </p:spPr>
      </p:pic>
      <p:pic>
        <p:nvPicPr>
          <p:cNvPr id="250" name="Google Shape;250;p13"/>
          <p:cNvPicPr preferRelativeResize="0"/>
          <p:nvPr/>
        </p:nvPicPr>
        <p:blipFill>
          <a:blip r:embed="rId7">
            <a:alphaModFix/>
          </a:blip>
          <a:stretch>
            <a:fillRect/>
          </a:stretch>
        </p:blipFill>
        <p:spPr>
          <a:xfrm>
            <a:off x="8661775" y="768152"/>
            <a:ext cx="2618761" cy="3264098"/>
          </a:xfrm>
          <a:prstGeom prst="rect">
            <a:avLst/>
          </a:prstGeom>
          <a:noFill/>
          <a:ln>
            <a:noFill/>
          </a:ln>
        </p:spPr>
      </p:pic>
      <p:pic>
        <p:nvPicPr>
          <p:cNvPr id="251" name="Google Shape;251;p13"/>
          <p:cNvPicPr preferRelativeResize="0"/>
          <p:nvPr/>
        </p:nvPicPr>
        <p:blipFill>
          <a:blip r:embed="rId8">
            <a:alphaModFix/>
          </a:blip>
          <a:stretch>
            <a:fillRect/>
          </a:stretch>
        </p:blipFill>
        <p:spPr>
          <a:xfrm>
            <a:off x="164000" y="4212500"/>
            <a:ext cx="2096000" cy="2587475"/>
          </a:xfrm>
          <a:prstGeom prst="rect">
            <a:avLst/>
          </a:prstGeom>
          <a:noFill/>
          <a:ln>
            <a:noFill/>
          </a:ln>
        </p:spPr>
      </p:pic>
      <p:pic>
        <p:nvPicPr>
          <p:cNvPr id="252" name="Google Shape;252;p13"/>
          <p:cNvPicPr preferRelativeResize="0"/>
          <p:nvPr/>
        </p:nvPicPr>
        <p:blipFill>
          <a:blip r:embed="rId9">
            <a:alphaModFix/>
          </a:blip>
          <a:stretch>
            <a:fillRect/>
          </a:stretch>
        </p:blipFill>
        <p:spPr>
          <a:xfrm>
            <a:off x="2849775" y="4212500"/>
            <a:ext cx="2714625" cy="1304925"/>
          </a:xfrm>
          <a:prstGeom prst="rect">
            <a:avLst/>
          </a:prstGeom>
          <a:noFill/>
          <a:ln>
            <a:noFill/>
          </a:ln>
        </p:spPr>
      </p:pic>
    </p:spTree>
  </p:cSld>
  <p:clrMapOvr>
    <a:masterClrMapping/>
  </p:clrMapOvr>
  <p:transition spd="slow">
    <p:wipe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descr="EscuelaIT Duoc UC - Escuela de Informática y Telecomunicaciones Duoc UC - Duoc  UC | LinkedIn" id="257" name="Google Shape;257;p1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58" name="Google Shape;258;p14"/>
          <p:cNvSpPr txBox="1"/>
          <p:nvPr/>
        </p:nvSpPr>
        <p:spPr>
          <a:xfrm>
            <a:off x="0" y="3044279"/>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PREGUNTAS DE LA COMISIÓN</a:t>
            </a:r>
            <a:endParaRPr/>
          </a:p>
        </p:txBody>
      </p:sp>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cp:coreProperties>
</file>